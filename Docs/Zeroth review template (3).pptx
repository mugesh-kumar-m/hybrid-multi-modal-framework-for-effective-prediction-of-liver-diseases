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3" r:id="rId4"/>
    <p:sldId id="264" r:id="rId5"/>
    <p:sldId id="262" r:id="rId6"/>
    <p:sldId id="271" r:id="rId7"/>
    <p:sldId id="266" r:id="rId8"/>
    <p:sldId id="267" r:id="rId9"/>
    <p:sldId id="26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DE0B9A-29DF-5474-9759-CCC0ECBEF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9E712-C895-B2AA-BE43-1CFBB0FC46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FD969-9832-4933-832E-3A58509884D6}" type="datetime1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009B8-8721-1105-DF19-78C2048128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46436-437D-C03A-9B46-713E302413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A4EF3-5BAA-4FEF-B1AB-E5C02F12A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3858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C05AE-93A3-4AFD-A9F8-FA9153E4848A}" type="datetime1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E3D55-DAFB-449A-B496-DACDA44C8B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84176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8D5A-EF41-2440-200E-5D8AFB1A8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1AD5F-5596-1DAB-0583-63853D73D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BF26-3DC5-69E8-533B-3C04AD9D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042A-7DEE-4BC2-A0FF-ADE6B0D70D7C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512E-C1CF-3AD3-5896-82DDBE2C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728F-5FF5-C4FE-E3D9-90FB614E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5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89B9-B7AF-92A7-B743-D633D07A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B2F30-F660-64D6-03D5-FFC55F33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D799-BABA-A2A3-34BB-6BEE63A3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B5642-54F6-E227-18DD-4104972E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113D-3778-B8A8-4601-D23FCF06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49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FD9A-FBA4-5716-638B-56B9BC49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DFED-0D60-CDB6-4AF7-C7B1AB05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3B2B-71EF-9B9B-9F98-C47A0536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D2B51-34E4-466A-9DC4-485DA9428E6B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5F55E-A5F1-E47D-60CF-AC7F6DFA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244C-6D17-6439-29F0-8B5C2BD4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1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FD90-6877-2212-F31C-013A2461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8AE32-5711-DDB0-5B68-539843B2B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3EA3B-CAA9-E4E0-B67C-471E3FFB2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59DE-A865-AD48-850F-BD370FED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D1EC-5184-4A40-AF1D-4976D5879B51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7C512-D05F-A322-2539-07B1244E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09C3A-3399-BC52-B5C4-12BF6F17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49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3822-4EBE-99A7-C80A-3D0F15D7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56E3-15F1-DB94-A362-06884DA2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783B3-539B-9985-1E43-960BDC1B8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5FEF8-0E3F-30AC-2897-67060B55E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E7D6B-B406-B3BA-18FA-F91CFBC88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8AB67-92AC-3497-B3F3-478F5FD8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1402-3461-4CA5-9E98-2ADBFAE2CC56}" type="datetime1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707C4-3FC8-4365-A067-B04C2609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1F443-C192-EB9A-37AF-A9F8086E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6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1B88-80ED-DDB4-B650-8563048C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06BD-C9B9-D9A3-781D-DA3AC097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D6FB-CA85-45CB-8AF7-3E32B0A418BA}" type="datetime1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2803F-4157-5813-3FB2-CD36C73A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C2C4-51FE-ABF8-2713-BB7285DA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92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9DE6B-55E9-8D83-130C-CAE2E7B0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929-D10C-4FF7-B22E-94453B270E5A}" type="datetime1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6D689-0261-D8C7-9F21-79F70CAC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BA6A-8845-4E62-5E4C-862C037A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60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FC51-02D0-9BAB-E1EE-66E37887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7282-ACEB-A6B5-C217-89C14A57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9EC9E-3E97-502F-614E-ADCD03FC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F6F2-0D48-6AF0-B2BE-6200B313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89B4-6292-4A47-9E12-57CB7D90954C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C2BC0-928F-17C1-152E-DFC22CC7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56FB0-531E-1136-AD08-34D09CFF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9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5112-E124-1DA4-E386-C5068DDD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154C2-FC73-5F9C-12BB-49D132A7E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66659-9F4A-3463-7687-33BEB5A09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B7C7-ACBB-774A-527D-CCE652D3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CCCB-1E5B-49F3-8B55-39F4DD25BDD4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C2201-11C9-4C2B-AC9E-57B67854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B9B4-8211-18A1-E31D-4CC2B546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9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3A82-12B4-856B-8842-EF9B32BB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18E96-CC4B-CF65-DC2E-20BFD5113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8AD0C-D2C1-5969-12AB-227FF992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7533-3E13-4484-8FD7-475474B2A9F3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E672-B222-12DB-9A37-13779C48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D944-5628-CDB6-34F7-33B88AFB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40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EB9D8-4913-B281-1A52-DBC41CFCA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CE2B8-F1F4-D010-7BED-652AA3D8A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AA608-E9D1-4511-F73E-1BBF3AB4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0536-59C3-4BC6-A11E-C16A5AC7DACE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7D57E-8FDB-26BB-6D10-D5A8FAAA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8542-6CAE-1B3A-E872-3313F6A4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038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8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EB455-A657-084F-7C4C-EF54E33D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4ED0D-B75F-74C6-22C2-C92940808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89F25-08BC-D8BF-DB54-428F6C85D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83A66-37C8-449D-B309-E74901CC910B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54B7-9A3B-CE82-F104-6B04C1FDA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A0267-B6E8-20FF-565E-4735EEFCB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4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225/ilpd+indian+liver+patient+datase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hyperlink" Target="https://data.mendeley.com/datasets/6rg4hk6728/1" TargetMode="External"/><Relationship Id="rId4" Type="http://schemas.openxmlformats.org/officeDocument/2006/relationships/hyperlink" Target="https://archive.ics.uci.edu/dataset/60/liver+disorder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1EDD72F-D569-E495-A380-4FB9B27ACE3A}"/>
              </a:ext>
            </a:extLst>
          </p:cNvPr>
          <p:cNvSpPr txBox="1">
            <a:spLocks/>
          </p:cNvSpPr>
          <p:nvPr/>
        </p:nvSpPr>
        <p:spPr>
          <a:xfrm>
            <a:off x="2858729" y="1137293"/>
            <a:ext cx="6474542" cy="427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Department of Artificial Intelligence and Data Science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795E489-E007-3F18-5B7E-A305954A6C3B}"/>
              </a:ext>
            </a:extLst>
          </p:cNvPr>
          <p:cNvSpPr txBox="1">
            <a:spLocks/>
          </p:cNvSpPr>
          <p:nvPr/>
        </p:nvSpPr>
        <p:spPr>
          <a:xfrm>
            <a:off x="-3" y="6085020"/>
            <a:ext cx="5309758" cy="73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R Kalaivani 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689A1E-8EF2-E118-6824-CDBB3629F217}"/>
              </a:ext>
            </a:extLst>
          </p:cNvPr>
          <p:cNvSpPr txBox="1">
            <a:spLocks/>
          </p:cNvSpPr>
          <p:nvPr/>
        </p:nvSpPr>
        <p:spPr>
          <a:xfrm>
            <a:off x="7462683" y="5531946"/>
            <a:ext cx="4729317" cy="13260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Mugesh Kumar M - 727823TUAD101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Rohit T J – 727823TUAD129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Roshan S – 727823TUAD130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C75339-A05A-F46A-823C-5125842221D1}"/>
              </a:ext>
            </a:extLst>
          </p:cNvPr>
          <p:cNvSpPr txBox="1">
            <a:spLocks/>
          </p:cNvSpPr>
          <p:nvPr/>
        </p:nvSpPr>
        <p:spPr>
          <a:xfrm>
            <a:off x="0" y="574963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No.: 1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6020D8A-6348-E3D3-4C53-90021725007B}"/>
              </a:ext>
            </a:extLst>
          </p:cNvPr>
          <p:cNvSpPr txBox="1">
            <a:spLocks/>
          </p:cNvSpPr>
          <p:nvPr/>
        </p:nvSpPr>
        <p:spPr>
          <a:xfrm>
            <a:off x="-3" y="645396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19/06/2026 (AN)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3EAFE8D-8B07-8A9D-E7AE-F148322DF277}"/>
              </a:ext>
            </a:extLst>
          </p:cNvPr>
          <p:cNvSpPr txBox="1">
            <a:spLocks/>
          </p:cNvSpPr>
          <p:nvPr/>
        </p:nvSpPr>
        <p:spPr>
          <a:xfrm>
            <a:off x="2895600" y="2968927"/>
            <a:ext cx="6400800" cy="68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Multi-Modal Framework for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Prediction of Liver Diseases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9192B06-CFF5-62BE-C517-094700027BEF}"/>
              </a:ext>
            </a:extLst>
          </p:cNvPr>
          <p:cNvSpPr txBox="1">
            <a:spLocks/>
          </p:cNvSpPr>
          <p:nvPr/>
        </p:nvSpPr>
        <p:spPr>
          <a:xfrm>
            <a:off x="2895600" y="1902524"/>
            <a:ext cx="6400800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 – I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9A0199-C93B-2680-7A40-9180F6B7764D}"/>
              </a:ext>
            </a:extLst>
          </p:cNvPr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E8982E7-4D99-63B5-35C1-DB0A625D2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Picture 2" descr="Anna University Logo">
              <a:extLst>
                <a:ext uri="{FF2B5EF4-FFF2-40B4-BE49-F238E27FC236}">
                  <a16:creationId xmlns:a16="http://schemas.microsoft.com/office/drawing/2014/main" id="{1C4E39E8-316C-B1BE-76CC-CC73C81166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9" t="10338" r="20319" b="10894"/>
            <a:stretch>
              <a:fillRect/>
            </a:stretch>
          </p:blipFill>
          <p:spPr bwMode="auto">
            <a:xfrm>
              <a:off x="9571702" y="272962"/>
              <a:ext cx="830830" cy="829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ubtitle 2">
            <a:extLst>
              <a:ext uri="{FF2B5EF4-FFF2-40B4-BE49-F238E27FC236}">
                <a16:creationId xmlns:a16="http://schemas.microsoft.com/office/drawing/2014/main" id="{8CA53F4B-A92B-D6BE-58B5-9CD3DA1F4067}"/>
              </a:ext>
            </a:extLst>
          </p:cNvPr>
          <p:cNvSpPr txBox="1">
            <a:spLocks/>
          </p:cNvSpPr>
          <p:nvPr/>
        </p:nvSpPr>
        <p:spPr>
          <a:xfrm>
            <a:off x="5031658" y="2373462"/>
            <a:ext cx="2128684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</p:spTree>
    <p:extLst>
      <p:ext uri="{BB962C8B-B14F-4D97-AF65-F5344CB8AC3E}">
        <p14:creationId xmlns:p14="http://schemas.microsoft.com/office/powerpoint/2010/main" val="200705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>
            <a:extLst>
              <a:ext uri="{FF2B5EF4-FFF2-40B4-BE49-F238E27FC236}">
                <a16:creationId xmlns:a16="http://schemas.microsoft.com/office/drawing/2014/main" id="{462FA2E2-823C-1172-3B5B-1D8C29B2D911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37E25-FFC7-E0B0-0E67-3E8FC84A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19-06-2026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Artificial Intelligence and Data Science | PWP-I | Batch - 1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8E826-A5CF-DE05-B518-F198F64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14E822A-E33B-44F5-FB18-5DE11F52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125" name="Shape 2">
            <a:extLst>
              <a:ext uri="{FF2B5EF4-FFF2-40B4-BE49-F238E27FC236}">
                <a16:creationId xmlns:a16="http://schemas.microsoft.com/office/drawing/2014/main" id="{69D24799-0A2E-FD6B-9D19-EAEE1383EE63}"/>
              </a:ext>
            </a:extLst>
          </p:cNvPr>
          <p:cNvSpPr/>
          <p:nvPr/>
        </p:nvSpPr>
        <p:spPr>
          <a:xfrm>
            <a:off x="365760" y="1316736"/>
            <a:ext cx="3657600" cy="3919498"/>
          </a:xfrm>
          <a:prstGeom prst="roundRect">
            <a:avLst>
              <a:gd name="adj" fmla="val 3333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6" name="Shape 3">
            <a:extLst>
              <a:ext uri="{FF2B5EF4-FFF2-40B4-BE49-F238E27FC236}">
                <a16:creationId xmlns:a16="http://schemas.microsoft.com/office/drawing/2014/main" id="{681CCCAC-6D63-CDBB-6917-8225C664548C}"/>
              </a:ext>
            </a:extLst>
          </p:cNvPr>
          <p:cNvSpPr/>
          <p:nvPr/>
        </p:nvSpPr>
        <p:spPr>
          <a:xfrm>
            <a:off x="1645920" y="1438656"/>
            <a:ext cx="1097280" cy="10972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7" name="Text 4">
            <a:extLst>
              <a:ext uri="{FF2B5EF4-FFF2-40B4-BE49-F238E27FC236}">
                <a16:creationId xmlns:a16="http://schemas.microsoft.com/office/drawing/2014/main" id="{4BBACE3A-5F79-225D-71EB-230E41751319}"/>
              </a:ext>
            </a:extLst>
          </p:cNvPr>
          <p:cNvSpPr/>
          <p:nvPr/>
        </p:nvSpPr>
        <p:spPr>
          <a:xfrm>
            <a:off x="1645920" y="1438656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28" name="Text 5">
            <a:extLst>
              <a:ext uri="{FF2B5EF4-FFF2-40B4-BE49-F238E27FC236}">
                <a16:creationId xmlns:a16="http://schemas.microsoft.com/office/drawing/2014/main" id="{88EFFB51-D78C-EFF7-B01B-686E2C1405B9}"/>
              </a:ext>
            </a:extLst>
          </p:cNvPr>
          <p:cNvSpPr/>
          <p:nvPr/>
        </p:nvSpPr>
        <p:spPr>
          <a:xfrm>
            <a:off x="487680" y="2657856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Progression</a:t>
            </a:r>
            <a:endParaRPr lang="en-US" sz="1867" dirty="0"/>
          </a:p>
        </p:txBody>
      </p:sp>
      <p:sp>
        <p:nvSpPr>
          <p:cNvPr id="129" name="Text 6">
            <a:extLst>
              <a:ext uri="{FF2B5EF4-FFF2-40B4-BE49-F238E27FC236}">
                <a16:creationId xmlns:a16="http://schemas.microsoft.com/office/drawing/2014/main" id="{484D312F-3D19-0162-76F1-DBDAA8B7B788}"/>
              </a:ext>
            </a:extLst>
          </p:cNvPr>
          <p:cNvSpPr/>
          <p:nvPr/>
        </p:nvSpPr>
        <p:spPr>
          <a:xfrm>
            <a:off x="548640" y="3267456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70" dirty="0"/>
              <a:t>NAFLD progresses silently through stages of steatosis and fibrosis, often undetected until advanced. Liver diseases (cirrhosis, hepatitis, HCC) are similarly diagnosed late, limiting treatment options.</a:t>
            </a:r>
            <a:endParaRPr lang="en-US" sz="1470" dirty="0"/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C82310-050E-B1D0-3299-8172C2B120F8}"/>
              </a:ext>
            </a:extLst>
          </p:cNvPr>
          <p:cNvSpPr/>
          <p:nvPr/>
        </p:nvSpPr>
        <p:spPr>
          <a:xfrm>
            <a:off x="4303776" y="1316736"/>
            <a:ext cx="3657600" cy="3919498"/>
          </a:xfrm>
          <a:prstGeom prst="roundRect">
            <a:avLst>
              <a:gd name="adj" fmla="val 3333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1" name="Shape 8">
            <a:extLst>
              <a:ext uri="{FF2B5EF4-FFF2-40B4-BE49-F238E27FC236}">
                <a16:creationId xmlns:a16="http://schemas.microsoft.com/office/drawing/2014/main" id="{9E21FA10-45B7-36F8-2896-998AA1E616D2}"/>
              </a:ext>
            </a:extLst>
          </p:cNvPr>
          <p:cNvSpPr/>
          <p:nvPr/>
        </p:nvSpPr>
        <p:spPr>
          <a:xfrm>
            <a:off x="5583936" y="1438656"/>
            <a:ext cx="1097280" cy="10972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2" name="Text 9">
            <a:extLst>
              <a:ext uri="{FF2B5EF4-FFF2-40B4-BE49-F238E27FC236}">
                <a16:creationId xmlns:a16="http://schemas.microsoft.com/office/drawing/2014/main" id="{CFC9F857-0936-6633-C78A-A51F93942A22}"/>
              </a:ext>
            </a:extLst>
          </p:cNvPr>
          <p:cNvSpPr/>
          <p:nvPr/>
        </p:nvSpPr>
        <p:spPr>
          <a:xfrm>
            <a:off x="5583936" y="1438656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3" name="Text 10">
            <a:extLst>
              <a:ext uri="{FF2B5EF4-FFF2-40B4-BE49-F238E27FC236}">
                <a16:creationId xmlns:a16="http://schemas.microsoft.com/office/drawing/2014/main" id="{5F0AB266-56F4-2FBE-82CE-0AF8E649BB36}"/>
              </a:ext>
            </a:extLst>
          </p:cNvPr>
          <p:cNvSpPr/>
          <p:nvPr/>
        </p:nvSpPr>
        <p:spPr>
          <a:xfrm>
            <a:off x="4425696" y="2657856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AI</a:t>
            </a:r>
            <a:endParaRPr lang="en-US" sz="1867" dirty="0"/>
          </a:p>
        </p:txBody>
      </p:sp>
      <p:sp>
        <p:nvSpPr>
          <p:cNvPr id="134" name="Text 11">
            <a:extLst>
              <a:ext uri="{FF2B5EF4-FFF2-40B4-BE49-F238E27FC236}">
                <a16:creationId xmlns:a16="http://schemas.microsoft.com/office/drawing/2014/main" id="{CBAEF899-EAE7-1578-A506-F79F4A4C6DE3}"/>
              </a:ext>
            </a:extLst>
          </p:cNvPr>
          <p:cNvSpPr/>
          <p:nvPr/>
        </p:nvSpPr>
        <p:spPr>
          <a:xfrm>
            <a:off x="4486656" y="3267456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models achieve high accuracy but lack explainability — clinicians cannot trust predictions without understanding the clinical reasoning.</a:t>
            </a:r>
            <a:endParaRPr lang="en-US" sz="1467" dirty="0"/>
          </a:p>
        </p:txBody>
      </p:sp>
      <p:sp>
        <p:nvSpPr>
          <p:cNvPr id="135" name="Shape 12">
            <a:extLst>
              <a:ext uri="{FF2B5EF4-FFF2-40B4-BE49-F238E27FC236}">
                <a16:creationId xmlns:a16="http://schemas.microsoft.com/office/drawing/2014/main" id="{0A391FA1-F87E-EC29-E714-C15A953241C6}"/>
              </a:ext>
            </a:extLst>
          </p:cNvPr>
          <p:cNvSpPr/>
          <p:nvPr/>
        </p:nvSpPr>
        <p:spPr>
          <a:xfrm>
            <a:off x="8241792" y="1316736"/>
            <a:ext cx="3657600" cy="3919498"/>
          </a:xfrm>
          <a:prstGeom prst="roundRect">
            <a:avLst>
              <a:gd name="adj" fmla="val 3333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6" name="Shape 13">
            <a:extLst>
              <a:ext uri="{FF2B5EF4-FFF2-40B4-BE49-F238E27FC236}">
                <a16:creationId xmlns:a16="http://schemas.microsoft.com/office/drawing/2014/main" id="{F858D8A3-0D76-9E5F-2916-805AEF9F8E45}"/>
              </a:ext>
            </a:extLst>
          </p:cNvPr>
          <p:cNvSpPr/>
          <p:nvPr/>
        </p:nvSpPr>
        <p:spPr>
          <a:xfrm>
            <a:off x="9521952" y="1438656"/>
            <a:ext cx="1097280" cy="10972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7" name="Text 14">
            <a:extLst>
              <a:ext uri="{FF2B5EF4-FFF2-40B4-BE49-F238E27FC236}">
                <a16:creationId xmlns:a16="http://schemas.microsoft.com/office/drawing/2014/main" id="{73BED19A-F8CE-E684-D509-B839A7B7A865}"/>
              </a:ext>
            </a:extLst>
          </p:cNvPr>
          <p:cNvSpPr/>
          <p:nvPr/>
        </p:nvSpPr>
        <p:spPr>
          <a:xfrm>
            <a:off x="9521952" y="1438656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38" name="Text 15">
            <a:extLst>
              <a:ext uri="{FF2B5EF4-FFF2-40B4-BE49-F238E27FC236}">
                <a16:creationId xmlns:a16="http://schemas.microsoft.com/office/drawing/2014/main" id="{23B28B89-85CD-77C0-B2BA-D82D1A524428}"/>
              </a:ext>
            </a:extLst>
          </p:cNvPr>
          <p:cNvSpPr/>
          <p:nvPr/>
        </p:nvSpPr>
        <p:spPr>
          <a:xfrm>
            <a:off x="8363712" y="2657856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Modality Isolation</a:t>
            </a:r>
            <a:endParaRPr lang="en-US" sz="1867" dirty="0"/>
          </a:p>
        </p:txBody>
      </p:sp>
      <p:sp>
        <p:nvSpPr>
          <p:cNvPr id="139" name="Text 16">
            <a:extLst>
              <a:ext uri="{FF2B5EF4-FFF2-40B4-BE49-F238E27FC236}">
                <a16:creationId xmlns:a16="http://schemas.microsoft.com/office/drawing/2014/main" id="{E614B8B2-AF35-5986-44D8-90E062C50E45}"/>
              </a:ext>
            </a:extLst>
          </p:cNvPr>
          <p:cNvSpPr/>
          <p:nvPr/>
        </p:nvSpPr>
        <p:spPr>
          <a:xfrm>
            <a:off x="8424672" y="3267456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70" dirty="0"/>
              <a:t>Current models process ultrasound or CT/MRI images OR blood tests in isolation, failing to exploit complementary information between imaging and biochemical markers.</a:t>
            </a:r>
            <a:endParaRPr lang="en-US" sz="1470" dirty="0"/>
          </a:p>
        </p:txBody>
      </p:sp>
      <p:sp>
        <p:nvSpPr>
          <p:cNvPr id="140" name="Shape 17">
            <a:extLst>
              <a:ext uri="{FF2B5EF4-FFF2-40B4-BE49-F238E27FC236}">
                <a16:creationId xmlns:a16="http://schemas.microsoft.com/office/drawing/2014/main" id="{E04FBEB8-D68C-346A-CEED-DF40E7D4FC1D}"/>
              </a:ext>
            </a:extLst>
          </p:cNvPr>
          <p:cNvSpPr/>
          <p:nvPr/>
        </p:nvSpPr>
        <p:spPr>
          <a:xfrm>
            <a:off x="365760" y="5705856"/>
            <a:ext cx="11533632" cy="585216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1" name="Text 18">
            <a:extLst>
              <a:ext uri="{FF2B5EF4-FFF2-40B4-BE49-F238E27FC236}">
                <a16:creationId xmlns:a16="http://schemas.microsoft.com/office/drawing/2014/main" id="{2F74805B-8B4A-1A3D-04DB-0203A0D9472B}"/>
              </a:ext>
            </a:extLst>
          </p:cNvPr>
          <p:cNvSpPr/>
          <p:nvPr/>
        </p:nvSpPr>
        <p:spPr>
          <a:xfrm>
            <a:off x="499872" y="5815584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IN" sz="1330" b="1" dirty="0">
                <a:solidFill>
                  <a:schemeClr val="bg1"/>
                </a:solidFill>
              </a:rPr>
              <a:t>Build a multimodal, multi-task, explainable AI framework for NAFLD detection and fibrosis staging from paired ultrasound imaging and clinical blood tests, with clinical trust.</a:t>
            </a:r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3" dirty="0"/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327745D5-FA9C-023F-A4B6-74538E740B76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67" dirty="0"/>
          </a:p>
        </p:txBody>
      </p:sp>
    </p:spTree>
    <p:extLst>
      <p:ext uri="{BB962C8B-B14F-4D97-AF65-F5344CB8AC3E}">
        <p14:creationId xmlns:p14="http://schemas.microsoft.com/office/powerpoint/2010/main" val="129705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DD73249B-4953-7DF5-C7E8-B19A1AB682AD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013ED61-D295-C65A-FB21-EA6E5E510037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67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9E7A2EB-71E6-90BE-23CA-22EB239F1ACE}"/>
              </a:ext>
            </a:extLst>
          </p:cNvPr>
          <p:cNvSpPr/>
          <p:nvPr/>
        </p:nvSpPr>
        <p:spPr>
          <a:xfrm>
            <a:off x="304800" y="1316736"/>
            <a:ext cx="3657600" cy="2097024"/>
          </a:xfrm>
          <a:prstGeom prst="roundRect">
            <a:avLst>
              <a:gd name="adj" fmla="val 5814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939FDC91-2169-3819-85F0-E767D2620658}"/>
              </a:ext>
            </a:extLst>
          </p:cNvPr>
          <p:cNvSpPr/>
          <p:nvPr/>
        </p:nvSpPr>
        <p:spPr>
          <a:xfrm>
            <a:off x="426720" y="1767840"/>
            <a:ext cx="670560" cy="6705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436E037-1B2F-1F56-6462-6D5607CF3F22}"/>
              </a:ext>
            </a:extLst>
          </p:cNvPr>
          <p:cNvSpPr/>
          <p:nvPr/>
        </p:nvSpPr>
        <p:spPr>
          <a:xfrm>
            <a:off x="426720" y="176784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67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1D6C6F4-7232-C21B-1718-F0C7CE5386AA}"/>
              </a:ext>
            </a:extLst>
          </p:cNvPr>
          <p:cNvSpPr/>
          <p:nvPr/>
        </p:nvSpPr>
        <p:spPr>
          <a:xfrm>
            <a:off x="1219200" y="1414272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Contrastive Pre-training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7827254-9EF3-71ED-2BE3-C1C58496A73B}"/>
              </a:ext>
            </a:extLst>
          </p:cNvPr>
          <p:cNvSpPr/>
          <p:nvPr/>
        </p:nvSpPr>
        <p:spPr>
          <a:xfrm>
            <a:off x="1219200" y="1950720"/>
            <a:ext cx="26212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70" b="1" dirty="0"/>
              <a:t>Use </a:t>
            </a:r>
            <a:r>
              <a:rPr lang="en-IN" sz="1270" b="1" dirty="0" err="1"/>
              <a:t>SimCLR</a:t>
            </a:r>
            <a:r>
              <a:rPr lang="en-IN" sz="1270" b="1" dirty="0"/>
              <a:t> to self-supervise a Swin-CNN encoder on </a:t>
            </a:r>
            <a:r>
              <a:rPr lang="en-IN" sz="1270" b="1" dirty="0" err="1"/>
              <a:t>unlabeled</a:t>
            </a:r>
            <a:r>
              <a:rPr lang="en-IN" sz="1270" b="1" dirty="0"/>
              <a:t> NAFLD ultrasound images (10,352 images from 384 patients) before fine-tuning — extracting robust visual representations.</a:t>
            </a:r>
            <a:endParaRPr lang="en-US" sz="127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CEDED43C-B197-9677-A7D1-113654EA518B}"/>
              </a:ext>
            </a:extLst>
          </p:cNvPr>
          <p:cNvSpPr/>
          <p:nvPr/>
        </p:nvSpPr>
        <p:spPr>
          <a:xfrm>
            <a:off x="4230624" y="1316736"/>
            <a:ext cx="3657600" cy="2097024"/>
          </a:xfrm>
          <a:prstGeom prst="roundRect">
            <a:avLst>
              <a:gd name="adj" fmla="val 5814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A003AD86-D8E6-AB5E-2B15-108D1305B90B}"/>
              </a:ext>
            </a:extLst>
          </p:cNvPr>
          <p:cNvSpPr/>
          <p:nvPr/>
        </p:nvSpPr>
        <p:spPr>
          <a:xfrm>
            <a:off x="4352544" y="1767840"/>
            <a:ext cx="670560" cy="6705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262A68A-D190-85D1-B3DE-AE6573F1EFE0}"/>
              </a:ext>
            </a:extLst>
          </p:cNvPr>
          <p:cNvSpPr/>
          <p:nvPr/>
        </p:nvSpPr>
        <p:spPr>
          <a:xfrm>
            <a:off x="4352544" y="176784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67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8C138B0-5D8A-BED5-3002-ED0A4D1C1E9B}"/>
              </a:ext>
            </a:extLst>
          </p:cNvPr>
          <p:cNvSpPr/>
          <p:nvPr/>
        </p:nvSpPr>
        <p:spPr>
          <a:xfrm>
            <a:off x="5145024" y="1414272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Cross-Modal Fusion</a:t>
            </a:r>
            <a:endParaRPr lang="en-US" sz="1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E977C5EE-83DB-6178-B317-7045478ABDE5}"/>
              </a:ext>
            </a:extLst>
          </p:cNvPr>
          <p:cNvSpPr/>
          <p:nvPr/>
        </p:nvSpPr>
        <p:spPr>
          <a:xfrm>
            <a:off x="5145024" y="1950720"/>
            <a:ext cx="26212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Fuse imaging (Swin-CNN) and tabular clinical data (FT-Transformer) via bidirectional cross-attention for dynamic per-patient weighting.</a:t>
            </a:r>
            <a:endParaRPr lang="en-US" sz="1267" b="1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B9F543E0-8D70-803A-F38E-19EF91397B8A}"/>
              </a:ext>
            </a:extLst>
          </p:cNvPr>
          <p:cNvSpPr/>
          <p:nvPr/>
        </p:nvSpPr>
        <p:spPr>
          <a:xfrm>
            <a:off x="8156448" y="1316736"/>
            <a:ext cx="3657600" cy="2097024"/>
          </a:xfrm>
          <a:prstGeom prst="roundRect">
            <a:avLst>
              <a:gd name="adj" fmla="val 5814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CAEAE2B9-08B7-A001-D9E9-7EF35CB5F715}"/>
              </a:ext>
            </a:extLst>
          </p:cNvPr>
          <p:cNvSpPr/>
          <p:nvPr/>
        </p:nvSpPr>
        <p:spPr>
          <a:xfrm>
            <a:off x="8278368" y="1767840"/>
            <a:ext cx="670560" cy="6705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0BCC580-40A5-62A9-6B21-D527BA9DFF10}"/>
              </a:ext>
            </a:extLst>
          </p:cNvPr>
          <p:cNvSpPr/>
          <p:nvPr/>
        </p:nvSpPr>
        <p:spPr>
          <a:xfrm>
            <a:off x="8278368" y="176784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67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B21CF88-0F2C-8F72-2E2C-C5C66ADBC97F}"/>
              </a:ext>
            </a:extLst>
          </p:cNvPr>
          <p:cNvSpPr/>
          <p:nvPr/>
        </p:nvSpPr>
        <p:spPr>
          <a:xfrm>
            <a:off x="9070848" y="1414272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Multi-Task Learning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698C7BC-4EDA-F7E8-FEB7-B369036A47BC}"/>
              </a:ext>
            </a:extLst>
          </p:cNvPr>
          <p:cNvSpPr/>
          <p:nvPr/>
        </p:nvSpPr>
        <p:spPr>
          <a:xfrm>
            <a:off x="9070848" y="1950720"/>
            <a:ext cx="26212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70" b="1" dirty="0"/>
              <a:t>Jointly predict: (a) NAFLD detection (Normal vs Diseased), and (b) fibrosis stage (F0–F3) using shared backbone with task-specific heads.</a:t>
            </a:r>
            <a:endParaRPr lang="en-US" sz="127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B3F31CB0-287B-C5DA-D186-A038FB0612D6}"/>
              </a:ext>
            </a:extLst>
          </p:cNvPr>
          <p:cNvSpPr/>
          <p:nvPr/>
        </p:nvSpPr>
        <p:spPr>
          <a:xfrm>
            <a:off x="304800" y="3633216"/>
            <a:ext cx="3657600" cy="2097024"/>
          </a:xfrm>
          <a:prstGeom prst="roundRect">
            <a:avLst>
              <a:gd name="adj" fmla="val 5814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F1EF7A43-BB8F-369D-A80E-C958E8FE00D8}"/>
              </a:ext>
            </a:extLst>
          </p:cNvPr>
          <p:cNvSpPr/>
          <p:nvPr/>
        </p:nvSpPr>
        <p:spPr>
          <a:xfrm>
            <a:off x="426720" y="4084320"/>
            <a:ext cx="670560" cy="6705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8A5ACF8-1A07-14B5-9578-0127C78FDD6B}"/>
              </a:ext>
            </a:extLst>
          </p:cNvPr>
          <p:cNvSpPr/>
          <p:nvPr/>
        </p:nvSpPr>
        <p:spPr>
          <a:xfrm>
            <a:off x="426720" y="408432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67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764CD4F6-6D0D-4750-3AED-A75976071A7A}"/>
              </a:ext>
            </a:extLst>
          </p:cNvPr>
          <p:cNvSpPr/>
          <p:nvPr/>
        </p:nvSpPr>
        <p:spPr>
          <a:xfrm>
            <a:off x="1219200" y="3730752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 XAI</a:t>
            </a:r>
            <a:endParaRPr lang="en-US" sz="16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87A4CA73-F0F0-D0C9-716B-1221BD03AFF8}"/>
              </a:ext>
            </a:extLst>
          </p:cNvPr>
          <p:cNvSpPr/>
          <p:nvPr/>
        </p:nvSpPr>
        <p:spPr>
          <a:xfrm>
            <a:off x="1219200" y="4267200"/>
            <a:ext cx="26212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70" b="1" dirty="0" err="1"/>
              <a:t>SimCLR</a:t>
            </a:r>
            <a:r>
              <a:rPr lang="en-IN" sz="1270" b="1" dirty="0"/>
              <a:t> on 10,352 </a:t>
            </a:r>
            <a:r>
              <a:rPr lang="en-IN" sz="1270" b="1" dirty="0" err="1"/>
              <a:t>unlabeled</a:t>
            </a:r>
            <a:r>
              <a:rPr lang="en-IN" sz="1270" b="1" dirty="0"/>
              <a:t> NAFLD ultrasound slices — liver-specific visual priors instead of generic ImageNet weights.</a:t>
            </a:r>
            <a:endParaRPr lang="en-US" sz="1270" b="1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D2BA0F80-6C59-389D-59AC-98FBB009601B}"/>
              </a:ext>
            </a:extLst>
          </p:cNvPr>
          <p:cNvSpPr/>
          <p:nvPr/>
        </p:nvSpPr>
        <p:spPr>
          <a:xfrm>
            <a:off x="4230624" y="3633216"/>
            <a:ext cx="3657600" cy="2097024"/>
          </a:xfrm>
          <a:prstGeom prst="roundRect">
            <a:avLst>
              <a:gd name="adj" fmla="val 5814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710ED3FB-3486-38AD-BDE6-680BA1C0C8EC}"/>
              </a:ext>
            </a:extLst>
          </p:cNvPr>
          <p:cNvSpPr/>
          <p:nvPr/>
        </p:nvSpPr>
        <p:spPr>
          <a:xfrm>
            <a:off x="4352544" y="4084320"/>
            <a:ext cx="670560" cy="6705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C884A67A-7EA7-8FC8-A2F2-A1F0BF406958}"/>
              </a:ext>
            </a:extLst>
          </p:cNvPr>
          <p:cNvSpPr/>
          <p:nvPr/>
        </p:nvSpPr>
        <p:spPr>
          <a:xfrm>
            <a:off x="4352544" y="408432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67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7A02D5B7-DEA6-AA2A-06C7-598496485B69}"/>
              </a:ext>
            </a:extLst>
          </p:cNvPr>
          <p:cNvSpPr/>
          <p:nvPr/>
        </p:nvSpPr>
        <p:spPr>
          <a:xfrm>
            <a:off x="5145024" y="3730752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Quantification</a:t>
            </a:r>
            <a:endParaRPr lang="en-US" sz="16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60DBA23E-F0BF-ACB6-88EC-8E47CC6C0049}"/>
              </a:ext>
            </a:extLst>
          </p:cNvPr>
          <p:cNvSpPr/>
          <p:nvPr/>
        </p:nvSpPr>
        <p:spPr>
          <a:xfrm>
            <a:off x="5145024" y="4267200"/>
            <a:ext cx="26212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low-confidence predictions using Monte Carlo Dropout (10 forward passes) for human-in-the-loop clinical safety review.</a:t>
            </a:r>
            <a:endParaRPr lang="en-US" sz="1267" b="1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EAF73362-7C0C-ADD4-392B-95AC74DBFD46}"/>
              </a:ext>
            </a:extLst>
          </p:cNvPr>
          <p:cNvSpPr/>
          <p:nvPr/>
        </p:nvSpPr>
        <p:spPr>
          <a:xfrm>
            <a:off x="8156448" y="3633216"/>
            <a:ext cx="3657600" cy="2097024"/>
          </a:xfrm>
          <a:prstGeom prst="roundRect">
            <a:avLst>
              <a:gd name="adj" fmla="val 5814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A9989B5E-4ECC-A38E-100D-D0BC5CCEFF4F}"/>
              </a:ext>
            </a:extLst>
          </p:cNvPr>
          <p:cNvSpPr/>
          <p:nvPr/>
        </p:nvSpPr>
        <p:spPr>
          <a:xfrm>
            <a:off x="8278368" y="4084320"/>
            <a:ext cx="670560" cy="6705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2B14BEC7-B02C-5022-C2F4-04B9DE7D9B9E}"/>
              </a:ext>
            </a:extLst>
          </p:cNvPr>
          <p:cNvSpPr/>
          <p:nvPr/>
        </p:nvSpPr>
        <p:spPr>
          <a:xfrm>
            <a:off x="8278368" y="408432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67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13910B48-78F3-335A-962A-929CEB899F2D}"/>
              </a:ext>
            </a:extLst>
          </p:cNvPr>
          <p:cNvSpPr/>
          <p:nvPr/>
        </p:nvSpPr>
        <p:spPr>
          <a:xfrm>
            <a:off x="9070848" y="3730752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Dashboard</a:t>
            </a:r>
            <a:endParaRPr lang="en-US" sz="16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418A859E-944A-B76B-A3AF-C90D960BC124}"/>
              </a:ext>
            </a:extLst>
          </p:cNvPr>
          <p:cNvSpPr/>
          <p:nvPr/>
        </p:nvSpPr>
        <p:spPr>
          <a:xfrm>
            <a:off x="9070848" y="4267200"/>
            <a:ext cx="26212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Streamlit/Gradio interface showing scan overlays, SHAP charts, and counterfactual cards for clinician decision support.</a:t>
            </a:r>
            <a:endParaRPr lang="en-US" sz="1267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E93A6-D9A5-09C9-BB29-78DA0F85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19-06-2026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Artificial Intelligence and Data Science | PWP-I | Batch - 1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999D2-F112-4731-4CC6-80098211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3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2F02A-180C-BC7B-12C7-5CC24FC0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6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C0A29BD-E3D8-D5CB-9D84-344A02190D2F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E4C75-0D29-E4B0-2478-A0D76B64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19-06-2026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| Dept. of Artificial Intelligence and Data Science | PWP-I | Batch - 1 | Zeroth review | </a:t>
            </a:r>
            <a:endParaRPr lang="en-IN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FDC12-C309-1953-7E8D-BC72E45C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4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098D9-347E-FDD7-7C65-86F7D830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4E964AD0-434A-7B61-DACA-DA743E969C0C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&amp; Technology Gap</a:t>
            </a:r>
            <a:endParaRPr lang="en-US" sz="3467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A2966EA-B8D1-2C9E-7AA9-584067B589D7}"/>
              </a:ext>
            </a:extLst>
          </p:cNvPr>
          <p:cNvSpPr/>
          <p:nvPr/>
        </p:nvSpPr>
        <p:spPr>
          <a:xfrm>
            <a:off x="304800" y="1243584"/>
            <a:ext cx="3779520" cy="512064"/>
          </a:xfrm>
          <a:prstGeom prst="rect">
            <a:avLst/>
          </a:prstGeom>
          <a:solidFill>
            <a:srgbClr val="0B2D48"/>
          </a:solidFill>
          <a:ln w="12700">
            <a:solidFill>
              <a:srgbClr val="0B2D4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BEEF235-0C46-CB79-FF56-28B777B1B388}"/>
              </a:ext>
            </a:extLst>
          </p:cNvPr>
          <p:cNvSpPr/>
          <p:nvPr/>
        </p:nvSpPr>
        <p:spPr>
          <a:xfrm>
            <a:off x="390144" y="1243584"/>
            <a:ext cx="3608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Paper</a:t>
            </a:r>
            <a:endParaRPr lang="en-US" sz="1467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CE01A8A-9C9E-4A2B-D4F6-810564051125}"/>
              </a:ext>
            </a:extLst>
          </p:cNvPr>
          <p:cNvSpPr/>
          <p:nvPr/>
        </p:nvSpPr>
        <p:spPr>
          <a:xfrm>
            <a:off x="4206240" y="1243584"/>
            <a:ext cx="3413760" cy="512064"/>
          </a:xfrm>
          <a:prstGeom prst="rect">
            <a:avLst/>
          </a:prstGeom>
          <a:solidFill>
            <a:srgbClr val="0B2D48"/>
          </a:solidFill>
          <a:ln w="12700">
            <a:solidFill>
              <a:srgbClr val="0B2D48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5446A14-09DF-5CE7-80D0-773927706AA5}"/>
              </a:ext>
            </a:extLst>
          </p:cNvPr>
          <p:cNvSpPr/>
          <p:nvPr/>
        </p:nvSpPr>
        <p:spPr>
          <a:xfrm>
            <a:off x="4291584" y="1243584"/>
            <a:ext cx="3243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67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1D1D58C0-E04E-7C14-4CD3-07F9F4328363}"/>
              </a:ext>
            </a:extLst>
          </p:cNvPr>
          <p:cNvSpPr/>
          <p:nvPr/>
        </p:nvSpPr>
        <p:spPr>
          <a:xfrm>
            <a:off x="7741920" y="1243584"/>
            <a:ext cx="4145280" cy="512064"/>
          </a:xfrm>
          <a:prstGeom prst="rect">
            <a:avLst/>
          </a:prstGeom>
          <a:solidFill>
            <a:srgbClr val="0B2D48"/>
          </a:solidFill>
          <a:ln w="12700">
            <a:solidFill>
              <a:srgbClr val="0B2D48"/>
            </a:solidFill>
            <a:prstDash val="solid"/>
          </a:ln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25FAC2E-73A7-8861-9003-0DF4842C52AC}"/>
              </a:ext>
            </a:extLst>
          </p:cNvPr>
          <p:cNvSpPr/>
          <p:nvPr/>
        </p:nvSpPr>
        <p:spPr>
          <a:xfrm>
            <a:off x="7827264" y="1243584"/>
            <a:ext cx="3974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1467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0A1D28A1-3C03-C351-B6C1-C2E1839CEAC4}"/>
              </a:ext>
            </a:extLst>
          </p:cNvPr>
          <p:cNvSpPr/>
          <p:nvPr/>
        </p:nvSpPr>
        <p:spPr>
          <a:xfrm>
            <a:off x="304800" y="1804416"/>
            <a:ext cx="377952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A19D5EF-C62C-A08F-E9B7-E0BA9DEAD344}"/>
              </a:ext>
            </a:extLst>
          </p:cNvPr>
          <p:cNvSpPr/>
          <p:nvPr/>
        </p:nvSpPr>
        <p:spPr>
          <a:xfrm>
            <a:off x="390144" y="1840992"/>
            <a:ext cx="360883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XAIHO (Springer 2025)</a:t>
            </a:r>
            <a:endParaRPr lang="en-US" sz="12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AEC3881E-B4F6-27B8-02B6-1B257EAC384C}"/>
              </a:ext>
            </a:extLst>
          </p:cNvPr>
          <p:cNvSpPr/>
          <p:nvPr/>
        </p:nvSpPr>
        <p:spPr>
          <a:xfrm>
            <a:off x="4206240" y="1804416"/>
            <a:ext cx="34137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7966499A-4112-E1CB-60EE-FF2BDA3D884B}"/>
              </a:ext>
            </a:extLst>
          </p:cNvPr>
          <p:cNvSpPr/>
          <p:nvPr/>
        </p:nvSpPr>
        <p:spPr>
          <a:xfrm>
            <a:off x="4291584" y="1840992"/>
            <a:ext cx="324307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+ SHAP + Adam — 92.35% accuracy</a:t>
            </a:r>
            <a:endParaRPr lang="en-US" sz="12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BED8D9DA-7B93-617B-DA24-195A60FAE98E}"/>
              </a:ext>
            </a:extLst>
          </p:cNvPr>
          <p:cNvSpPr/>
          <p:nvPr/>
        </p:nvSpPr>
        <p:spPr>
          <a:xfrm>
            <a:off x="7741920" y="1804416"/>
            <a:ext cx="414528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C4B8869E-983F-A587-B6F3-9A05DC825AC5}"/>
              </a:ext>
            </a:extLst>
          </p:cNvPr>
          <p:cNvSpPr/>
          <p:nvPr/>
        </p:nvSpPr>
        <p:spPr>
          <a:xfrm>
            <a:off x="7827264" y="1840992"/>
            <a:ext cx="397459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modality; no cross-modal fusion; post-hoc SHAP lacks counterfactuals</a:t>
            </a:r>
            <a:endParaRPr lang="en-US" sz="12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74AA971A-A500-0A8C-00D8-B39578D733EB}"/>
              </a:ext>
            </a:extLst>
          </p:cNvPr>
          <p:cNvSpPr/>
          <p:nvPr/>
        </p:nvSpPr>
        <p:spPr>
          <a:xfrm>
            <a:off x="304800" y="2596896"/>
            <a:ext cx="3779520" cy="755904"/>
          </a:xfrm>
          <a:prstGeom prst="rect">
            <a:avLst/>
          </a:prstGeom>
          <a:solidFill>
            <a:srgbClr val="F0F7F8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F34CA73E-4DDC-6A3D-84E5-F6161B36C9B0}"/>
              </a:ext>
            </a:extLst>
          </p:cNvPr>
          <p:cNvSpPr/>
          <p:nvPr/>
        </p:nvSpPr>
        <p:spPr>
          <a:xfrm>
            <a:off x="390144" y="2633472"/>
            <a:ext cx="360883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BiLSTM-AM-VMD (2025)</a:t>
            </a:r>
            <a:endParaRPr lang="en-US" sz="12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EE088302-3A28-D634-AD15-055154678DE2}"/>
              </a:ext>
            </a:extLst>
          </p:cNvPr>
          <p:cNvSpPr/>
          <p:nvPr/>
        </p:nvSpPr>
        <p:spPr>
          <a:xfrm>
            <a:off x="4206240" y="2596896"/>
            <a:ext cx="3413760" cy="755904"/>
          </a:xfrm>
          <a:prstGeom prst="rect">
            <a:avLst/>
          </a:prstGeom>
          <a:solidFill>
            <a:srgbClr val="F0F7F8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8204673-85AF-B273-434D-9F99A719C927}"/>
              </a:ext>
            </a:extLst>
          </p:cNvPr>
          <p:cNvSpPr/>
          <p:nvPr/>
        </p:nvSpPr>
        <p:spPr>
          <a:xfrm>
            <a:off x="4291584" y="2633472"/>
            <a:ext cx="324307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BiLSTM + attention, AUC 0.963 for HCC</a:t>
            </a:r>
            <a:endParaRPr lang="en-US" sz="12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9FD246A-C22D-068F-6DB6-E67CA405C3BA}"/>
              </a:ext>
            </a:extLst>
          </p:cNvPr>
          <p:cNvSpPr/>
          <p:nvPr/>
        </p:nvSpPr>
        <p:spPr>
          <a:xfrm>
            <a:off x="7741920" y="2596896"/>
            <a:ext cx="4145280" cy="755904"/>
          </a:xfrm>
          <a:prstGeom prst="rect">
            <a:avLst/>
          </a:prstGeom>
          <a:solidFill>
            <a:srgbClr val="F0F7F8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2DDD0590-BF24-3190-3ADA-31FFA8AA6754}"/>
              </a:ext>
            </a:extLst>
          </p:cNvPr>
          <p:cNvSpPr/>
          <p:nvPr/>
        </p:nvSpPr>
        <p:spPr>
          <a:xfrm>
            <a:off x="7827264" y="2633472"/>
            <a:ext cx="397459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concatenation (not cross-attention); no uncertainty; SHAP-only</a:t>
            </a:r>
            <a:endParaRPr lang="en-US" sz="12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2D666C81-C6F7-D007-BDF3-6B71890145AA}"/>
              </a:ext>
            </a:extLst>
          </p:cNvPr>
          <p:cNvSpPr/>
          <p:nvPr/>
        </p:nvSpPr>
        <p:spPr>
          <a:xfrm>
            <a:off x="304800" y="3389376"/>
            <a:ext cx="377952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F3654896-A1EF-4661-3288-76E72492BE6E}"/>
              </a:ext>
            </a:extLst>
          </p:cNvPr>
          <p:cNvSpPr/>
          <p:nvPr/>
        </p:nvSpPr>
        <p:spPr>
          <a:xfrm>
            <a:off x="390144" y="3425952"/>
            <a:ext cx="360883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NMD-FusionNet (2025)</a:t>
            </a:r>
            <a:endParaRPr lang="en-US" sz="12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E98625F1-F819-A851-11A4-4953B8A4E22B}"/>
              </a:ext>
            </a:extLst>
          </p:cNvPr>
          <p:cNvSpPr/>
          <p:nvPr/>
        </p:nvSpPr>
        <p:spPr>
          <a:xfrm>
            <a:off x="4206240" y="3389376"/>
            <a:ext cx="34137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AE46429B-637F-CA7E-22C7-C60B9F9BF4EB}"/>
              </a:ext>
            </a:extLst>
          </p:cNvPr>
          <p:cNvSpPr/>
          <p:nvPr/>
        </p:nvSpPr>
        <p:spPr>
          <a:xfrm>
            <a:off x="4291584" y="3425952"/>
            <a:ext cx="324307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+ multi-window fusion for liver cancer segmentation</a:t>
            </a:r>
            <a:endParaRPr lang="en-US" sz="120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1DFED4AC-D6F5-2CC2-72C0-1E3DF2F4A3FF}"/>
              </a:ext>
            </a:extLst>
          </p:cNvPr>
          <p:cNvSpPr/>
          <p:nvPr/>
        </p:nvSpPr>
        <p:spPr>
          <a:xfrm>
            <a:off x="7741920" y="3389376"/>
            <a:ext cx="414528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5E81D5B8-EA11-3C80-0A51-1FFB732C48B6}"/>
              </a:ext>
            </a:extLst>
          </p:cNvPr>
          <p:cNvSpPr/>
          <p:nvPr/>
        </p:nvSpPr>
        <p:spPr>
          <a:xfrm>
            <a:off x="7827264" y="3425952"/>
            <a:ext cx="397459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Segmentation-only; no tabular integration; no predictive staging</a:t>
            </a:r>
            <a:endParaRPr lang="en-US" sz="12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7F757311-D82A-B837-AE97-8B4A7CF7CCBC}"/>
              </a:ext>
            </a:extLst>
          </p:cNvPr>
          <p:cNvSpPr/>
          <p:nvPr/>
        </p:nvSpPr>
        <p:spPr>
          <a:xfrm>
            <a:off x="304800" y="4181856"/>
            <a:ext cx="3779520" cy="755904"/>
          </a:xfrm>
          <a:prstGeom prst="rect">
            <a:avLst/>
          </a:prstGeom>
          <a:solidFill>
            <a:srgbClr val="F0F7F8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44F1BB89-E811-37B4-9C8B-21DFA9DDBFDD}"/>
              </a:ext>
            </a:extLst>
          </p:cNvPr>
          <p:cNvSpPr/>
          <p:nvPr/>
        </p:nvSpPr>
        <p:spPr>
          <a:xfrm>
            <a:off x="390144" y="4218432"/>
            <a:ext cx="360883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SNN (2025)</a:t>
            </a:r>
            <a:endParaRPr lang="en-US" sz="120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BE407C34-8148-3115-669E-F6F0EC89B66B}"/>
              </a:ext>
            </a:extLst>
          </p:cNvPr>
          <p:cNvSpPr/>
          <p:nvPr/>
        </p:nvSpPr>
        <p:spPr>
          <a:xfrm>
            <a:off x="4206240" y="4181856"/>
            <a:ext cx="3413760" cy="755904"/>
          </a:xfrm>
          <a:prstGeom prst="rect">
            <a:avLst/>
          </a:prstGeom>
          <a:solidFill>
            <a:srgbClr val="F0F7F8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E28063-7EB9-3327-B42F-4A7ACEF53707}"/>
              </a:ext>
            </a:extLst>
          </p:cNvPr>
          <p:cNvSpPr/>
          <p:nvPr/>
        </p:nvSpPr>
        <p:spPr>
          <a:xfrm>
            <a:off x="4291584" y="4218432"/>
            <a:ext cx="324307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SimCLR-based Siamese Net — 99.90% on ultrasound</a:t>
            </a:r>
            <a:endParaRPr lang="en-US" sz="120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CEC058CC-9B93-39ED-B919-B0EF4DF34C62}"/>
              </a:ext>
            </a:extLst>
          </p:cNvPr>
          <p:cNvSpPr/>
          <p:nvPr/>
        </p:nvSpPr>
        <p:spPr>
          <a:xfrm>
            <a:off x="7741920" y="4181856"/>
            <a:ext cx="4145280" cy="755904"/>
          </a:xfrm>
          <a:prstGeom prst="rect">
            <a:avLst/>
          </a:prstGeom>
          <a:solidFill>
            <a:srgbClr val="F0F7F8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09FFE84C-3892-FA30-9030-69646761F004}"/>
              </a:ext>
            </a:extLst>
          </p:cNvPr>
          <p:cNvSpPr/>
          <p:nvPr/>
        </p:nvSpPr>
        <p:spPr>
          <a:xfrm>
            <a:off x="7827264" y="4218432"/>
            <a:ext cx="397459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modality; no tabular fusion; minimal explainability</a:t>
            </a:r>
            <a:endParaRPr lang="en-US" sz="1200" dirty="0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8D9A4A1E-09CF-D8D2-E9FB-9238A632F6DD}"/>
              </a:ext>
            </a:extLst>
          </p:cNvPr>
          <p:cNvSpPr/>
          <p:nvPr/>
        </p:nvSpPr>
        <p:spPr>
          <a:xfrm>
            <a:off x="304800" y="4974336"/>
            <a:ext cx="377952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9732FC31-6920-3716-0F20-ACBFA199F3E2}"/>
              </a:ext>
            </a:extLst>
          </p:cNvPr>
          <p:cNvSpPr/>
          <p:nvPr/>
        </p:nvSpPr>
        <p:spPr>
          <a:xfrm>
            <a:off x="390144" y="5010912"/>
            <a:ext cx="360883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FL-XAI (2025)</a:t>
            </a:r>
            <a:endParaRPr lang="en-US" sz="1200" dirty="0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8C3FD0CA-AEDD-1603-4B07-6FFDF0747582}"/>
              </a:ext>
            </a:extLst>
          </p:cNvPr>
          <p:cNvSpPr/>
          <p:nvPr/>
        </p:nvSpPr>
        <p:spPr>
          <a:xfrm>
            <a:off x="4206240" y="4974336"/>
            <a:ext cx="34137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DDE9E61C-724F-D80D-3DB6-D35B7A7A2603}"/>
              </a:ext>
            </a:extLst>
          </p:cNvPr>
          <p:cNvSpPr/>
          <p:nvPr/>
        </p:nvSpPr>
        <p:spPr>
          <a:xfrm>
            <a:off x="4291584" y="5010912"/>
            <a:ext cx="324307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+ Random Forest / XGBoost + XAI</a:t>
            </a:r>
            <a:endParaRPr lang="en-US" sz="1200" dirty="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23358477-211A-A9ED-5018-35DB1623177B}"/>
              </a:ext>
            </a:extLst>
          </p:cNvPr>
          <p:cNvSpPr/>
          <p:nvPr/>
        </p:nvSpPr>
        <p:spPr>
          <a:xfrm>
            <a:off x="7741920" y="4974336"/>
            <a:ext cx="414528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ED"/>
            </a:solidFill>
            <a:prstDash val="solid"/>
          </a:ln>
        </p:spPr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6E5F6A95-5D21-BF57-4192-0470A842B7C0}"/>
              </a:ext>
            </a:extLst>
          </p:cNvPr>
          <p:cNvSpPr/>
          <p:nvPr/>
        </p:nvSpPr>
        <p:spPr>
          <a:xfrm>
            <a:off x="7827264" y="5010912"/>
            <a:ext cx="397459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 only; no imaging modality; no multi-task prediction</a:t>
            </a:r>
            <a:endParaRPr lang="en-US" sz="120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5016B317-6CEF-8BEA-40F8-517F87C44E96}"/>
              </a:ext>
            </a:extLst>
          </p:cNvPr>
          <p:cNvSpPr/>
          <p:nvPr/>
        </p:nvSpPr>
        <p:spPr>
          <a:xfrm>
            <a:off x="304800" y="5779008"/>
            <a:ext cx="11582400" cy="463296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844B4049-B6C5-B9CB-76AC-E1A393350B32}"/>
              </a:ext>
            </a:extLst>
          </p:cNvPr>
          <p:cNvSpPr/>
          <p:nvPr/>
        </p:nvSpPr>
        <p:spPr>
          <a:xfrm>
            <a:off x="426720" y="5779008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existing work combines contrastive pre-training + cross-modal attention + multi-task learning + counterfactual XAI in a single hepatology framework.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106065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>
            <a:extLst>
              <a:ext uri="{FF2B5EF4-FFF2-40B4-BE49-F238E27FC236}">
                <a16:creationId xmlns:a16="http://schemas.microsoft.com/office/drawing/2014/main" id="{287C1944-35C5-5FF4-4883-479F49574EB4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63917-7A99-ECD2-6EA6-5D589E8C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19-06-2026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| Dept. of Artificial Intelligence and Data Science | PWP-I | Batch - 1 | Zeroth review | </a:t>
            </a:r>
            <a:endParaRPr lang="en-IN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893BE-EFFB-4A42-B0AB-D016499D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5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C71A-AA3F-F207-9FAE-23F13DF1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50" name="Text 1">
            <a:extLst>
              <a:ext uri="{FF2B5EF4-FFF2-40B4-BE49-F238E27FC236}">
                <a16:creationId xmlns:a16="http://schemas.microsoft.com/office/drawing/2014/main" id="{49D91740-AC18-984E-36FD-F30C57259718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Methodology: CMCHT-XAI</a:t>
            </a:r>
            <a:endParaRPr lang="en-US" sz="3467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D5958A29-0CA1-637C-F6F1-3E337121786B}"/>
              </a:ext>
            </a:extLst>
          </p:cNvPr>
          <p:cNvSpPr/>
          <p:nvPr/>
        </p:nvSpPr>
        <p:spPr>
          <a:xfrm>
            <a:off x="609600" y="792480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Contrastive Hybrid Transformer with Counterfactual Explainable AI</a:t>
            </a:r>
            <a:endParaRPr lang="en-US" sz="1333" dirty="0"/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3B9C295D-3AD8-02A5-BEFE-2D7E2B50EFD3}"/>
              </a:ext>
            </a:extLst>
          </p:cNvPr>
          <p:cNvSpPr/>
          <p:nvPr/>
        </p:nvSpPr>
        <p:spPr>
          <a:xfrm>
            <a:off x="243840" y="1280160"/>
            <a:ext cx="1767840" cy="1859854"/>
          </a:xfrm>
          <a:prstGeom prst="roundRect">
            <a:avLst>
              <a:gd name="adj" fmla="val 6897"/>
            </a:avLst>
          </a:prstGeom>
          <a:solidFill>
            <a:srgbClr val="0B2D4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C98526CE-B707-4FC3-736E-817D85C21209}"/>
              </a:ext>
            </a:extLst>
          </p:cNvPr>
          <p:cNvSpPr/>
          <p:nvPr/>
        </p:nvSpPr>
        <p:spPr>
          <a:xfrm>
            <a:off x="304800" y="1341120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33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ECB1F969-FC45-9021-362C-2838B5A67241}"/>
              </a:ext>
            </a:extLst>
          </p:cNvPr>
          <p:cNvSpPr/>
          <p:nvPr/>
        </p:nvSpPr>
        <p:spPr>
          <a:xfrm>
            <a:off x="304800" y="1975104"/>
            <a:ext cx="164592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NAFLD Ultrasound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</a:rPr>
              <a:t>B-mode + Tabular Clinical Data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AE22BAB9-9158-2443-1052-82D6CE03F2C4}"/>
              </a:ext>
            </a:extLst>
          </p:cNvPr>
          <p:cNvSpPr/>
          <p:nvPr/>
        </p:nvSpPr>
        <p:spPr>
          <a:xfrm>
            <a:off x="2011680" y="2462784"/>
            <a:ext cx="182880" cy="0"/>
          </a:xfrm>
          <a:prstGeom prst="line">
            <a:avLst/>
          </a:prstGeom>
          <a:noFill/>
          <a:ln w="25400">
            <a:solidFill>
              <a:srgbClr val="D4860A"/>
            </a:solidFill>
            <a:prstDash val="solid"/>
          </a:ln>
        </p:spPr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9A94B71A-A798-B0BB-A645-ED26F226DA42}"/>
              </a:ext>
            </a:extLst>
          </p:cNvPr>
          <p:cNvSpPr/>
          <p:nvPr/>
        </p:nvSpPr>
        <p:spPr>
          <a:xfrm>
            <a:off x="2194560" y="1280160"/>
            <a:ext cx="1767840" cy="1859852"/>
          </a:xfrm>
          <a:prstGeom prst="roundRect">
            <a:avLst>
              <a:gd name="adj" fmla="val 6897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01C56192-4DC9-9404-7F7E-B3F17875F89D}"/>
              </a:ext>
            </a:extLst>
          </p:cNvPr>
          <p:cNvSpPr/>
          <p:nvPr/>
        </p:nvSpPr>
        <p:spPr>
          <a:xfrm>
            <a:off x="2255520" y="1341120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Encoder</a:t>
            </a:r>
            <a:endParaRPr lang="en-US" sz="1333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5C4A2E4F-0345-72C0-F391-D23131FAA606}"/>
              </a:ext>
            </a:extLst>
          </p:cNvPr>
          <p:cNvSpPr/>
          <p:nvPr/>
        </p:nvSpPr>
        <p:spPr>
          <a:xfrm>
            <a:off x="2255520" y="1975104"/>
            <a:ext cx="164592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Swin-CNN Hybrid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(SimCLR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Pre-trained)</a:t>
            </a:r>
            <a:endParaRPr lang="en-US" sz="1200" b="1" dirty="0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CA987975-71AE-80D3-A596-C381A998FD64}"/>
              </a:ext>
            </a:extLst>
          </p:cNvPr>
          <p:cNvSpPr/>
          <p:nvPr/>
        </p:nvSpPr>
        <p:spPr>
          <a:xfrm>
            <a:off x="3962400" y="2462784"/>
            <a:ext cx="182880" cy="0"/>
          </a:xfrm>
          <a:prstGeom prst="line">
            <a:avLst/>
          </a:prstGeom>
          <a:noFill/>
          <a:ln w="25400">
            <a:solidFill>
              <a:srgbClr val="D4860A"/>
            </a:solidFill>
            <a:prstDash val="solid"/>
          </a:ln>
        </p:spPr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6E83A5FD-2106-C45F-493A-1AF7B815B734}"/>
              </a:ext>
            </a:extLst>
          </p:cNvPr>
          <p:cNvSpPr/>
          <p:nvPr/>
        </p:nvSpPr>
        <p:spPr>
          <a:xfrm>
            <a:off x="4145280" y="1280160"/>
            <a:ext cx="1767840" cy="1859849"/>
          </a:xfrm>
          <a:prstGeom prst="roundRect">
            <a:avLst>
              <a:gd name="adj" fmla="val 6897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1DCF8A16-2CB2-53AD-7777-37F2DD9A0448}"/>
              </a:ext>
            </a:extLst>
          </p:cNvPr>
          <p:cNvSpPr/>
          <p:nvPr/>
        </p:nvSpPr>
        <p:spPr>
          <a:xfrm>
            <a:off x="4206240" y="1341120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Encoder</a:t>
            </a:r>
            <a:endParaRPr lang="en-US" sz="1333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07DDDF8F-502C-D8B8-2F18-1B06000A21B6}"/>
              </a:ext>
            </a:extLst>
          </p:cNvPr>
          <p:cNvSpPr/>
          <p:nvPr/>
        </p:nvSpPr>
        <p:spPr>
          <a:xfrm>
            <a:off x="4206240" y="1975104"/>
            <a:ext cx="164592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FT-Transformer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(Feature Tokenizer)</a:t>
            </a:r>
            <a:endParaRPr lang="en-US" sz="1200" b="1" dirty="0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5B91E9FC-DAE4-68DC-DEA2-F345C8D6FF59}"/>
              </a:ext>
            </a:extLst>
          </p:cNvPr>
          <p:cNvSpPr/>
          <p:nvPr/>
        </p:nvSpPr>
        <p:spPr>
          <a:xfrm>
            <a:off x="5913120" y="2462784"/>
            <a:ext cx="182880" cy="0"/>
          </a:xfrm>
          <a:prstGeom prst="line">
            <a:avLst/>
          </a:prstGeom>
          <a:noFill/>
          <a:ln w="25400">
            <a:solidFill>
              <a:srgbClr val="D4860A"/>
            </a:solidFill>
            <a:prstDash val="solid"/>
          </a:ln>
        </p:spPr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CE0978F5-FB5E-8883-DAC5-29C5E658A60D}"/>
              </a:ext>
            </a:extLst>
          </p:cNvPr>
          <p:cNvSpPr/>
          <p:nvPr/>
        </p:nvSpPr>
        <p:spPr>
          <a:xfrm>
            <a:off x="6096000" y="1280160"/>
            <a:ext cx="1767840" cy="1859849"/>
          </a:xfrm>
          <a:prstGeom prst="roundRect">
            <a:avLst>
              <a:gd name="adj" fmla="val 6897"/>
            </a:avLst>
          </a:prstGeom>
          <a:solidFill>
            <a:srgbClr val="C0392B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60687D70-BDA7-EEB7-E9ED-D334B745BAF8}"/>
              </a:ext>
            </a:extLst>
          </p:cNvPr>
          <p:cNvSpPr/>
          <p:nvPr/>
        </p:nvSpPr>
        <p:spPr>
          <a:xfrm>
            <a:off x="6156960" y="1341120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33" dirty="0"/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E21682E2-CDB7-94B7-12CE-0E5F500137E4}"/>
              </a:ext>
            </a:extLst>
          </p:cNvPr>
          <p:cNvSpPr/>
          <p:nvPr/>
        </p:nvSpPr>
        <p:spPr>
          <a:xfrm>
            <a:off x="6156960" y="1975104"/>
            <a:ext cx="164592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Bidirectional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Multi-Head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Cross-Attention</a:t>
            </a:r>
            <a:endParaRPr lang="en-US" sz="1200" b="1" dirty="0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81BD54A6-47E8-DF07-5F9C-E818220599C4}"/>
              </a:ext>
            </a:extLst>
          </p:cNvPr>
          <p:cNvSpPr/>
          <p:nvPr/>
        </p:nvSpPr>
        <p:spPr>
          <a:xfrm>
            <a:off x="7863840" y="2462784"/>
            <a:ext cx="182880" cy="0"/>
          </a:xfrm>
          <a:prstGeom prst="line">
            <a:avLst/>
          </a:prstGeom>
          <a:noFill/>
          <a:ln w="25400">
            <a:solidFill>
              <a:srgbClr val="D4860A"/>
            </a:solidFill>
            <a:prstDash val="solid"/>
          </a:ln>
        </p:spPr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AB33B7C1-4779-D745-AB5C-DB4AEF30A861}"/>
              </a:ext>
            </a:extLst>
          </p:cNvPr>
          <p:cNvSpPr/>
          <p:nvPr/>
        </p:nvSpPr>
        <p:spPr>
          <a:xfrm>
            <a:off x="8046720" y="1280160"/>
            <a:ext cx="1767840" cy="1859849"/>
          </a:xfrm>
          <a:prstGeom prst="roundRect">
            <a:avLst>
              <a:gd name="adj" fmla="val 6897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63718AAE-C78A-980C-1A7D-AAD2B15274A1}"/>
              </a:ext>
            </a:extLst>
          </p:cNvPr>
          <p:cNvSpPr/>
          <p:nvPr/>
        </p:nvSpPr>
        <p:spPr>
          <a:xfrm>
            <a:off x="8107680" y="1341120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333" dirty="0"/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F037555F-5B9A-B5F5-B315-E6031BB71F78}"/>
              </a:ext>
            </a:extLst>
          </p:cNvPr>
          <p:cNvSpPr/>
          <p:nvPr/>
        </p:nvSpPr>
        <p:spPr>
          <a:xfrm>
            <a:off x="8107680" y="1975104"/>
            <a:ext cx="164592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NAFLD Detection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</a:rPr>
              <a:t>(Binary) Fibrosis Staging (Multi-class)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4F746B29-4C9E-C3E6-711E-C0EDB4DBD84E}"/>
              </a:ext>
            </a:extLst>
          </p:cNvPr>
          <p:cNvSpPr/>
          <p:nvPr/>
        </p:nvSpPr>
        <p:spPr>
          <a:xfrm>
            <a:off x="9814560" y="2462784"/>
            <a:ext cx="182880" cy="0"/>
          </a:xfrm>
          <a:prstGeom prst="line">
            <a:avLst/>
          </a:prstGeom>
          <a:noFill/>
          <a:ln w="25400">
            <a:solidFill>
              <a:srgbClr val="D4860A"/>
            </a:solidFill>
            <a:prstDash val="solid"/>
          </a:ln>
        </p:spPr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1D4B4BB5-0335-7E4D-701E-6D68877401EC}"/>
              </a:ext>
            </a:extLst>
          </p:cNvPr>
          <p:cNvSpPr/>
          <p:nvPr/>
        </p:nvSpPr>
        <p:spPr>
          <a:xfrm>
            <a:off x="9997440" y="1280159"/>
            <a:ext cx="1767840" cy="1859845"/>
          </a:xfrm>
          <a:prstGeom prst="roundRect">
            <a:avLst>
              <a:gd name="adj" fmla="val 6897"/>
            </a:avLst>
          </a:prstGeom>
          <a:solidFill>
            <a:srgbClr val="0B2D4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A92810C0-AD3A-D355-09D7-091616C02C40}"/>
              </a:ext>
            </a:extLst>
          </p:cNvPr>
          <p:cNvSpPr/>
          <p:nvPr/>
        </p:nvSpPr>
        <p:spPr>
          <a:xfrm>
            <a:off x="10058400" y="1341120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Layer</a:t>
            </a:r>
            <a:endParaRPr lang="en-US" sz="1333" dirty="0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22E6C4A5-5767-E99E-33A2-70F6376A5EBF}"/>
              </a:ext>
            </a:extLst>
          </p:cNvPr>
          <p:cNvSpPr/>
          <p:nvPr/>
        </p:nvSpPr>
        <p:spPr>
          <a:xfrm>
            <a:off x="10058400" y="1975104"/>
            <a:ext cx="164592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SHAP+GradCAM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+Counterfactuals</a:t>
            </a:r>
            <a:endParaRPr lang="en-US" sz="1200" b="1" dirty="0"/>
          </a:p>
          <a:p>
            <a:pPr algn="ctr"/>
            <a:r>
              <a:rPr lang="en-US" sz="1200" b="1" dirty="0">
                <a:solidFill>
                  <a:srgbClr val="D4EEF0"/>
                </a:solidFill>
                <a:ea typeface="Calibri" pitchFamily="34" charset="-122"/>
                <a:cs typeface="Calibri" pitchFamily="34" charset="-120"/>
              </a:rPr>
              <a:t>+Uncertainty</a:t>
            </a:r>
            <a:endParaRPr lang="en-US" sz="1200" b="1" dirty="0"/>
          </a:p>
        </p:txBody>
      </p:sp>
      <p:sp>
        <p:nvSpPr>
          <p:cNvPr id="75" name="Shape 26">
            <a:extLst>
              <a:ext uri="{FF2B5EF4-FFF2-40B4-BE49-F238E27FC236}">
                <a16:creationId xmlns:a16="http://schemas.microsoft.com/office/drawing/2014/main" id="{F3433D5F-B677-E78D-7E05-CC27045722B5}"/>
              </a:ext>
            </a:extLst>
          </p:cNvPr>
          <p:cNvSpPr/>
          <p:nvPr/>
        </p:nvSpPr>
        <p:spPr>
          <a:xfrm>
            <a:off x="609600" y="3429000"/>
            <a:ext cx="347472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45F92445-F3D9-0752-416A-9017F3A80511}"/>
              </a:ext>
            </a:extLst>
          </p:cNvPr>
          <p:cNvSpPr/>
          <p:nvPr/>
        </p:nvSpPr>
        <p:spPr>
          <a:xfrm>
            <a:off x="1950720" y="3489960"/>
            <a:ext cx="792480" cy="792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7BAE47CB-A2FE-1CB9-B9F4-77C2123E8A90}"/>
              </a:ext>
            </a:extLst>
          </p:cNvPr>
          <p:cNvSpPr/>
          <p:nvPr/>
        </p:nvSpPr>
        <p:spPr>
          <a:xfrm>
            <a:off x="1950720" y="348996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2939315C-EBCA-C0BC-A1EA-02067B050637}"/>
              </a:ext>
            </a:extLst>
          </p:cNvPr>
          <p:cNvSpPr/>
          <p:nvPr/>
        </p:nvSpPr>
        <p:spPr>
          <a:xfrm>
            <a:off x="731520" y="4343400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Contrastive Pre-training</a:t>
            </a:r>
            <a:endParaRPr lang="en-US" sz="1467" dirty="0"/>
          </a:p>
        </p:txBody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80F8A8CE-48FE-0B3E-1B74-E5CF348DFA14}"/>
              </a:ext>
            </a:extLst>
          </p:cNvPr>
          <p:cNvSpPr/>
          <p:nvPr/>
        </p:nvSpPr>
        <p:spPr>
          <a:xfrm>
            <a:off x="731520" y="4867656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on unlabeled liver images — liver-specific visual priors instead of generic ImageNet weights.</a:t>
            </a:r>
            <a:endParaRPr lang="en-US" sz="1267" dirty="0"/>
          </a:p>
        </p:txBody>
      </p:sp>
      <p:sp>
        <p:nvSpPr>
          <p:cNvPr id="80" name="Shape 31">
            <a:extLst>
              <a:ext uri="{FF2B5EF4-FFF2-40B4-BE49-F238E27FC236}">
                <a16:creationId xmlns:a16="http://schemas.microsoft.com/office/drawing/2014/main" id="{695C3C53-1C8F-FDAA-465C-9BBA89459FA2}"/>
              </a:ext>
            </a:extLst>
          </p:cNvPr>
          <p:cNvSpPr/>
          <p:nvPr/>
        </p:nvSpPr>
        <p:spPr>
          <a:xfrm>
            <a:off x="4389120" y="3429000"/>
            <a:ext cx="347472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32">
            <a:extLst>
              <a:ext uri="{FF2B5EF4-FFF2-40B4-BE49-F238E27FC236}">
                <a16:creationId xmlns:a16="http://schemas.microsoft.com/office/drawing/2014/main" id="{F6A347EE-BB6C-4A85-BDA8-B3316CCB1631}"/>
              </a:ext>
            </a:extLst>
          </p:cNvPr>
          <p:cNvSpPr/>
          <p:nvPr/>
        </p:nvSpPr>
        <p:spPr>
          <a:xfrm>
            <a:off x="5730240" y="3489960"/>
            <a:ext cx="792480" cy="792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2" name="Text 33">
            <a:extLst>
              <a:ext uri="{FF2B5EF4-FFF2-40B4-BE49-F238E27FC236}">
                <a16:creationId xmlns:a16="http://schemas.microsoft.com/office/drawing/2014/main" id="{C6DFD67B-FD7B-5D9A-2F3C-C7CD5978941E}"/>
              </a:ext>
            </a:extLst>
          </p:cNvPr>
          <p:cNvSpPr/>
          <p:nvPr/>
        </p:nvSpPr>
        <p:spPr>
          <a:xfrm>
            <a:off x="5730240" y="348996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601A0129-B68F-39C2-7A30-3114484C83F4}"/>
              </a:ext>
            </a:extLst>
          </p:cNvPr>
          <p:cNvSpPr/>
          <p:nvPr/>
        </p:nvSpPr>
        <p:spPr>
          <a:xfrm>
            <a:off x="4511040" y="4343400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 XAI</a:t>
            </a:r>
            <a:endParaRPr lang="en-US" sz="1467" dirty="0"/>
          </a:p>
        </p:txBody>
      </p:sp>
      <p:sp>
        <p:nvSpPr>
          <p:cNvPr id="84" name="Text 35">
            <a:extLst>
              <a:ext uri="{FF2B5EF4-FFF2-40B4-BE49-F238E27FC236}">
                <a16:creationId xmlns:a16="http://schemas.microsoft.com/office/drawing/2014/main" id="{68DE1896-1C19-8703-1CB5-EE184170E7D1}"/>
              </a:ext>
            </a:extLst>
          </p:cNvPr>
          <p:cNvSpPr/>
          <p:nvPr/>
        </p:nvSpPr>
        <p:spPr>
          <a:xfrm>
            <a:off x="4511040" y="4867656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generates actionable "what-if" patient-level recommendations for clinical decision support.</a:t>
            </a:r>
            <a:endParaRPr lang="en-US" sz="1267" dirty="0"/>
          </a:p>
        </p:txBody>
      </p:sp>
      <p:sp>
        <p:nvSpPr>
          <p:cNvPr id="85" name="Shape 36">
            <a:extLst>
              <a:ext uri="{FF2B5EF4-FFF2-40B4-BE49-F238E27FC236}">
                <a16:creationId xmlns:a16="http://schemas.microsoft.com/office/drawing/2014/main" id="{3C62ABA1-550E-1A5C-F41B-847D93F4A3FD}"/>
              </a:ext>
            </a:extLst>
          </p:cNvPr>
          <p:cNvSpPr/>
          <p:nvPr/>
        </p:nvSpPr>
        <p:spPr>
          <a:xfrm>
            <a:off x="8168640" y="3429000"/>
            <a:ext cx="347472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Shape 37">
            <a:extLst>
              <a:ext uri="{FF2B5EF4-FFF2-40B4-BE49-F238E27FC236}">
                <a16:creationId xmlns:a16="http://schemas.microsoft.com/office/drawing/2014/main" id="{3974B191-9DD7-B5FE-AC6C-4A70BFBBD33A}"/>
              </a:ext>
            </a:extLst>
          </p:cNvPr>
          <p:cNvSpPr/>
          <p:nvPr/>
        </p:nvSpPr>
        <p:spPr>
          <a:xfrm>
            <a:off x="9509760" y="3489960"/>
            <a:ext cx="792480" cy="792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7" name="Text 38">
            <a:extLst>
              <a:ext uri="{FF2B5EF4-FFF2-40B4-BE49-F238E27FC236}">
                <a16:creationId xmlns:a16="http://schemas.microsoft.com/office/drawing/2014/main" id="{7AE7AA10-D5F8-C840-BDFD-58DC043D25D6}"/>
              </a:ext>
            </a:extLst>
          </p:cNvPr>
          <p:cNvSpPr/>
          <p:nvPr/>
        </p:nvSpPr>
        <p:spPr>
          <a:xfrm>
            <a:off x="9509760" y="348996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88" name="Text 39">
            <a:extLst>
              <a:ext uri="{FF2B5EF4-FFF2-40B4-BE49-F238E27FC236}">
                <a16:creationId xmlns:a16="http://schemas.microsoft.com/office/drawing/2014/main" id="{49A930DB-9D02-7C8A-81B1-BA8FA4C1985D}"/>
              </a:ext>
            </a:extLst>
          </p:cNvPr>
          <p:cNvSpPr/>
          <p:nvPr/>
        </p:nvSpPr>
        <p:spPr>
          <a:xfrm>
            <a:off x="8290560" y="4343400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Quantification</a:t>
            </a:r>
            <a:endParaRPr lang="en-US" sz="1467" dirty="0"/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F288EB00-009A-78F5-F2A3-95AE72B40841}"/>
              </a:ext>
            </a:extLst>
          </p:cNvPr>
          <p:cNvSpPr/>
          <p:nvPr/>
        </p:nvSpPr>
        <p:spPr>
          <a:xfrm>
            <a:off x="8290560" y="4867656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Dropout (10 forward passes) flags ambiguous predictions for human review.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1286947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C8818A5-21FE-DD58-FFAB-98EE6658D22C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806CC-491E-25BC-5186-19511478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19-06-2026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| Dept. of Artificial Intelligence and Data Science | PWP-I | Batch - 1 | Zeroth review | </a:t>
            </a:r>
            <a:endParaRPr lang="en-IN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0BBE5-D1E8-02BA-5154-86895AC2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6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57820-3DA2-59CB-6B08-DF0784AA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7028A02-F5BC-7195-84A7-D32667D42DD8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467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9258E76-93D6-502C-A217-7E4656F72DA1}"/>
              </a:ext>
            </a:extLst>
          </p:cNvPr>
          <p:cNvSpPr/>
          <p:nvPr/>
        </p:nvSpPr>
        <p:spPr>
          <a:xfrm>
            <a:off x="365760" y="1255776"/>
            <a:ext cx="6827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Open-Source Datasets</a:t>
            </a:r>
            <a:endParaRPr lang="en-US" sz="1733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39CCE9CA-E799-0DE1-E826-08E90C429E1B}"/>
              </a:ext>
            </a:extLst>
          </p:cNvPr>
          <p:cNvSpPr/>
          <p:nvPr/>
        </p:nvSpPr>
        <p:spPr>
          <a:xfrm>
            <a:off x="7559040" y="1255776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</a:rPr>
              <a:t>Sample Datasets</a:t>
            </a:r>
            <a:endParaRPr lang="en-US" sz="1733" dirty="0"/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C6E02E23-989F-E5A0-32C0-5DDBB6A9B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913423"/>
              </p:ext>
            </p:extLst>
          </p:nvPr>
        </p:nvGraphicFramePr>
        <p:xfrm>
          <a:off x="388189" y="1746856"/>
          <a:ext cx="7065034" cy="29545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611">
                  <a:extLst>
                    <a:ext uri="{9D8B030D-6E8A-4147-A177-3AD203B41FA5}">
                      <a16:colId xmlns:a16="http://schemas.microsoft.com/office/drawing/2014/main" val="2740204133"/>
                    </a:ext>
                  </a:extLst>
                </a:gridCol>
                <a:gridCol w="1420632">
                  <a:extLst>
                    <a:ext uri="{9D8B030D-6E8A-4147-A177-3AD203B41FA5}">
                      <a16:colId xmlns:a16="http://schemas.microsoft.com/office/drawing/2014/main" val="2178493573"/>
                    </a:ext>
                  </a:extLst>
                </a:gridCol>
                <a:gridCol w="1003391">
                  <a:extLst>
                    <a:ext uri="{9D8B030D-6E8A-4147-A177-3AD203B41FA5}">
                      <a16:colId xmlns:a16="http://schemas.microsoft.com/office/drawing/2014/main" val="3389133907"/>
                    </a:ext>
                  </a:extLst>
                </a:gridCol>
                <a:gridCol w="861221">
                  <a:extLst>
                    <a:ext uri="{9D8B030D-6E8A-4147-A177-3AD203B41FA5}">
                      <a16:colId xmlns:a16="http://schemas.microsoft.com/office/drawing/2014/main" val="3471643184"/>
                    </a:ext>
                  </a:extLst>
                </a:gridCol>
                <a:gridCol w="2339179">
                  <a:extLst>
                    <a:ext uri="{9D8B030D-6E8A-4147-A177-3AD203B41FA5}">
                      <a16:colId xmlns:a16="http://schemas.microsoft.com/office/drawing/2014/main" val="893411106"/>
                    </a:ext>
                  </a:extLst>
                </a:gridCol>
              </a:tblGrid>
              <a:tr h="399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Dataset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Type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Size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License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Access Link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extLst>
                  <a:ext uri="{0D108BD9-81ED-4DB2-BD59-A6C34878D82A}">
                    <a16:rowId xmlns:a16="http://schemas.microsoft.com/office/drawing/2014/main" val="1542768027"/>
                  </a:ext>
                </a:extLst>
              </a:tr>
              <a:tr h="731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ILPD (Indian Liver Patient Dataset)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Tabular (blood tests: bilirubin, SGPT, SGOT, albumin, etc.)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583 patients (416 diseased, 167 healthy)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Public / UCI Repository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hlinkClick r:id="rId3"/>
                        </a:rPr>
                        <a:t>ILPD (Indian Liver Patient Dataset) - UCI Machine Learning Repository</a:t>
                      </a:r>
                      <a:endParaRPr lang="en-IN" sz="1200" b="0" i="0" u="sng" strike="noStrike" dirty="0">
                        <a:solidFill>
                          <a:srgbClr val="0563C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extLst>
                  <a:ext uri="{0D108BD9-81ED-4DB2-BD59-A6C34878D82A}">
                    <a16:rowId xmlns:a16="http://schemas.microsoft.com/office/drawing/2014/main" val="719800317"/>
                  </a:ext>
                </a:extLst>
              </a:tr>
              <a:tr h="731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BUPA Liver Disorders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Tabular (7 biochemical features)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345 instances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Public / UCI Repository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hlinkClick r:id="rId4"/>
                        </a:rPr>
                        <a:t>Liver Disorders - UCI Machine Learning Repository</a:t>
                      </a:r>
                      <a:endParaRPr lang="en-IN" sz="1200" b="0" i="0" u="sng" strike="noStrike" dirty="0">
                        <a:solidFill>
                          <a:srgbClr val="0563C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extLst>
                  <a:ext uri="{0D108BD9-81ED-4DB2-BD59-A6C34878D82A}">
                    <a16:rowId xmlns:a16="http://schemas.microsoft.com/office/drawing/2014/main" val="275133508"/>
                  </a:ext>
                </a:extLst>
              </a:tr>
              <a:tr h="1091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NAFLD Ultrasound + Clinical (Mendeley)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CT Volumes + Segmentation masks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201 CT scans (131 train, 70 test)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CC BY-NC-SA (non-commercial)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dirty="0">
                          <a:hlinkClick r:id="rId5"/>
                        </a:rPr>
                        <a:t>Dataset on NAFLD Severity Classification with Ultrasound Liver Image &amp; Clinical Data - Mendeley Data</a:t>
                      </a:r>
                      <a:endParaRPr lang="en-IN" sz="1200" b="0" i="0" u="sng" strike="noStrike" dirty="0">
                        <a:solidFill>
                          <a:srgbClr val="0563C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38" marR="4338" marT="4338" marB="0" anchor="ctr"/>
                </a:tc>
                <a:extLst>
                  <a:ext uri="{0D108BD9-81ED-4DB2-BD59-A6C34878D82A}">
                    <a16:rowId xmlns:a16="http://schemas.microsoft.com/office/drawing/2014/main" val="143225549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EBC71AE-B32B-F896-36DD-34FF73D034D8}"/>
              </a:ext>
            </a:extLst>
          </p:cNvPr>
          <p:cNvSpPr txBox="1"/>
          <p:nvPr/>
        </p:nvSpPr>
        <p:spPr>
          <a:xfrm>
            <a:off x="365760" y="4877319"/>
            <a:ext cx="1146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NAFLD </a:t>
            </a:r>
            <a:r>
              <a:rPr lang="en-IN" sz="1400" dirty="0"/>
              <a:t>Ultrasound + Clinical provides paired imaging and tabular data for the same 384 patients, enabling true cross-modal fusion without synthetic alignment. ILPD and BUPA serve as supplementary tabular benchmarks.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2EECD2-5F5D-215B-7155-34DEA22ED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295" y="1777266"/>
            <a:ext cx="3825105" cy="286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1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">
            <a:extLst>
              <a:ext uri="{FF2B5EF4-FFF2-40B4-BE49-F238E27FC236}">
                <a16:creationId xmlns:a16="http://schemas.microsoft.com/office/drawing/2014/main" id="{D2C556F2-BEA5-7695-A2D5-7E3AA18C3256}"/>
              </a:ext>
            </a:extLst>
          </p:cNvPr>
          <p:cNvSpPr/>
          <p:nvPr/>
        </p:nvSpPr>
        <p:spPr>
          <a:xfrm>
            <a:off x="8046720" y="3819954"/>
            <a:ext cx="365760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0B2D4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9A5354C4-FD06-F62F-4300-BABB8A9083AD}"/>
              </a:ext>
            </a:extLst>
          </p:cNvPr>
          <p:cNvSpPr/>
          <p:nvPr/>
        </p:nvSpPr>
        <p:spPr>
          <a:xfrm>
            <a:off x="4145280" y="3819954"/>
            <a:ext cx="365760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0B2D4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FE7EB335-B1E8-0EB9-F525-564809ECE024}"/>
              </a:ext>
            </a:extLst>
          </p:cNvPr>
          <p:cNvSpPr/>
          <p:nvPr/>
        </p:nvSpPr>
        <p:spPr>
          <a:xfrm>
            <a:off x="243840" y="3819954"/>
            <a:ext cx="365760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0B2D4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DBCC785C-444C-A91E-CD69-EFB4205A5247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E1670-ED2A-594A-848E-51BB8D26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19-06-2026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| Dept. of Artificial Intelligence and Data Science | PWP-I | Batch - 1 | Zeroth review | </a:t>
            </a:r>
            <a:endParaRPr lang="en-IN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E231B-CB82-786F-30A5-562196C2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DC2AB-DFBC-65B1-ED3E-FF9F8D88A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1DEE7F6-9503-534D-5FF5-B66F69337D36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467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75E51C8-92D6-19F3-70EE-504067B6F5DE}"/>
              </a:ext>
            </a:extLst>
          </p:cNvPr>
          <p:cNvSpPr/>
          <p:nvPr/>
        </p:nvSpPr>
        <p:spPr>
          <a:xfrm>
            <a:off x="243840" y="1316736"/>
            <a:ext cx="365760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0B2D4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8FB1A5D5-18B7-923F-0DE7-0C5B37F55EC3}"/>
              </a:ext>
            </a:extLst>
          </p:cNvPr>
          <p:cNvSpPr/>
          <p:nvPr/>
        </p:nvSpPr>
        <p:spPr>
          <a:xfrm>
            <a:off x="390144" y="1438656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0B2D48"/>
          </a:solidFill>
          <a:ln w="12700">
            <a:solidFill>
              <a:srgbClr val="0B2D48"/>
            </a:solidFill>
            <a:prstDash val="solid"/>
          </a:ln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BB954D6-2515-5AEE-7B33-35A5B335A0F8}"/>
              </a:ext>
            </a:extLst>
          </p:cNvPr>
          <p:cNvSpPr/>
          <p:nvPr/>
        </p:nvSpPr>
        <p:spPr>
          <a:xfrm>
            <a:off x="390144" y="14386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3F90EB2-210E-ED1C-5AE2-24D603FCF767}"/>
              </a:ext>
            </a:extLst>
          </p:cNvPr>
          <p:cNvSpPr/>
          <p:nvPr/>
        </p:nvSpPr>
        <p:spPr>
          <a:xfrm>
            <a:off x="1584960" y="1463040"/>
            <a:ext cx="213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BC475CA-C98B-E79F-518B-00251283B8DF}"/>
              </a:ext>
            </a:extLst>
          </p:cNvPr>
          <p:cNvSpPr/>
          <p:nvPr/>
        </p:nvSpPr>
        <p:spPr>
          <a:xfrm>
            <a:off x="390144" y="187756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Data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F2DA0054-D202-A8CD-EC30-B9D2FD0638EB}"/>
              </a:ext>
            </a:extLst>
          </p:cNvPr>
          <p:cNvSpPr/>
          <p:nvPr/>
        </p:nvSpPr>
        <p:spPr>
          <a:xfrm>
            <a:off x="390144" y="2414016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30" b="1" dirty="0"/>
              <a:t>Setup </a:t>
            </a:r>
            <a:r>
              <a:rPr lang="en-IN" sz="1130" b="1" dirty="0" err="1"/>
              <a:t>PyTorch</a:t>
            </a:r>
            <a:r>
              <a:rPr lang="en-IN" sz="1130" b="1" dirty="0"/>
              <a:t>/MONAI, Download NAFLD Ultrasound + Clinical (Mendeley); ILPD as supplementary tabular benchmark. Preprocessing (resample, augment, SMOTE)</a:t>
            </a:r>
            <a:endParaRPr lang="en-US" sz="113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3826C920-2B87-F225-7E1C-955B96B86971}"/>
              </a:ext>
            </a:extLst>
          </p:cNvPr>
          <p:cNvSpPr/>
          <p:nvPr/>
        </p:nvSpPr>
        <p:spPr>
          <a:xfrm>
            <a:off x="4145280" y="1316736"/>
            <a:ext cx="365760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FE1843E-20C7-517A-1DB7-42F9074C12B8}"/>
              </a:ext>
            </a:extLst>
          </p:cNvPr>
          <p:cNvSpPr/>
          <p:nvPr/>
        </p:nvSpPr>
        <p:spPr>
          <a:xfrm>
            <a:off x="4291584" y="1438656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00447FB-0042-47CA-2756-2EE0C8D9374F}"/>
              </a:ext>
            </a:extLst>
          </p:cNvPr>
          <p:cNvSpPr/>
          <p:nvPr/>
        </p:nvSpPr>
        <p:spPr>
          <a:xfrm>
            <a:off x="4291584" y="14386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7D3BA2A-67DC-176C-A411-11EA7FB32766}"/>
              </a:ext>
            </a:extLst>
          </p:cNvPr>
          <p:cNvSpPr/>
          <p:nvPr/>
        </p:nvSpPr>
        <p:spPr>
          <a:xfrm>
            <a:off x="5486400" y="1463040"/>
            <a:ext cx="213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4–6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1F132852-45F2-D7A1-36AD-B27E3AF19781}"/>
              </a:ext>
            </a:extLst>
          </p:cNvPr>
          <p:cNvSpPr/>
          <p:nvPr/>
        </p:nvSpPr>
        <p:spPr>
          <a:xfrm>
            <a:off x="4291584" y="187756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Self-Supervised Pre-training</a:t>
            </a:r>
            <a:endParaRPr lang="en-US" sz="1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EF0C3D90-B5AE-9AD1-2737-8203B692B64F}"/>
              </a:ext>
            </a:extLst>
          </p:cNvPr>
          <p:cNvSpPr/>
          <p:nvPr/>
        </p:nvSpPr>
        <p:spPr>
          <a:xfrm>
            <a:off x="4291584" y="2414016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30" b="1" dirty="0" err="1"/>
              <a:t>SimCLR</a:t>
            </a:r>
            <a:r>
              <a:rPr lang="en-IN" sz="1130" b="1" dirty="0"/>
              <a:t> on </a:t>
            </a:r>
            <a:r>
              <a:rPr lang="en-IN" sz="1130" b="1" dirty="0" err="1"/>
              <a:t>unlabeled</a:t>
            </a:r>
            <a:r>
              <a:rPr lang="en-IN" sz="1130" b="1" dirty="0"/>
              <a:t> NAFLD ultrasound slices (10,352 images), NT-</a:t>
            </a:r>
            <a:r>
              <a:rPr lang="en-IN" sz="1130" b="1" dirty="0" err="1"/>
              <a:t>Xent</a:t>
            </a:r>
            <a:r>
              <a:rPr lang="en-IN" sz="1130" b="1" dirty="0"/>
              <a:t> loss, Evaluate representations on 10% </a:t>
            </a:r>
            <a:r>
              <a:rPr lang="en-IN" sz="1130" b="1" dirty="0" err="1"/>
              <a:t>labeled</a:t>
            </a:r>
            <a:r>
              <a:rPr lang="en-IN" sz="1130" b="1" dirty="0"/>
              <a:t> data</a:t>
            </a:r>
            <a:endParaRPr lang="en-US" sz="113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037B3FE3-BF01-7B6D-E6F7-9C90BB8DE958}"/>
              </a:ext>
            </a:extLst>
          </p:cNvPr>
          <p:cNvSpPr/>
          <p:nvPr/>
        </p:nvSpPr>
        <p:spPr>
          <a:xfrm>
            <a:off x="8046720" y="1316736"/>
            <a:ext cx="3657600" cy="2292096"/>
          </a:xfrm>
          <a:prstGeom prst="roundRect">
            <a:avLst>
              <a:gd name="adj" fmla="val 5319"/>
            </a:avLst>
          </a:prstGeom>
          <a:solidFill>
            <a:srgbClr val="F0F7F8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4C129724-7648-C7B7-899A-DDAE4C1C0276}"/>
              </a:ext>
            </a:extLst>
          </p:cNvPr>
          <p:cNvSpPr/>
          <p:nvPr/>
        </p:nvSpPr>
        <p:spPr>
          <a:xfrm>
            <a:off x="8193024" y="1438656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DA3E9CC-A7F7-9295-6A64-657CA7E42061}"/>
              </a:ext>
            </a:extLst>
          </p:cNvPr>
          <p:cNvSpPr/>
          <p:nvPr/>
        </p:nvSpPr>
        <p:spPr>
          <a:xfrm>
            <a:off x="8193024" y="14386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C64375B3-90C1-F2F4-D6D5-A4CCED4C1D5A}"/>
              </a:ext>
            </a:extLst>
          </p:cNvPr>
          <p:cNvSpPr/>
          <p:nvPr/>
        </p:nvSpPr>
        <p:spPr>
          <a:xfrm>
            <a:off x="9387840" y="1463040"/>
            <a:ext cx="213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7–12</a:t>
            </a: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D0E5CB63-C785-2B24-C611-8870AD758902}"/>
              </a:ext>
            </a:extLst>
          </p:cNvPr>
          <p:cNvSpPr/>
          <p:nvPr/>
        </p:nvSpPr>
        <p:spPr>
          <a:xfrm>
            <a:off x="8193024" y="187756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Model Development</a:t>
            </a:r>
            <a:endParaRPr lang="en-US" sz="16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31B68134-9216-FCD9-8533-43D342E769B7}"/>
              </a:ext>
            </a:extLst>
          </p:cNvPr>
          <p:cNvSpPr/>
          <p:nvPr/>
        </p:nvSpPr>
        <p:spPr>
          <a:xfrm>
            <a:off x="8193024" y="2414016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Swin-CNN + FT-Transformer, Cross-Modal Attention Fusion, Multi-Task training (AdamW + Focal Loss)</a:t>
            </a:r>
            <a:endParaRPr lang="en-US" sz="1133" b="1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07A598CA-793D-16AC-5826-2E89225865D2}"/>
              </a:ext>
            </a:extLst>
          </p:cNvPr>
          <p:cNvSpPr/>
          <p:nvPr/>
        </p:nvSpPr>
        <p:spPr>
          <a:xfrm>
            <a:off x="390144" y="3938016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5764FD85-8E1B-2D9D-3785-4D382576551A}"/>
              </a:ext>
            </a:extLst>
          </p:cNvPr>
          <p:cNvSpPr/>
          <p:nvPr/>
        </p:nvSpPr>
        <p:spPr>
          <a:xfrm>
            <a:off x="390144" y="3938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77461E37-1DAF-3D52-3050-AA18E2AFD274}"/>
              </a:ext>
            </a:extLst>
          </p:cNvPr>
          <p:cNvSpPr/>
          <p:nvPr/>
        </p:nvSpPr>
        <p:spPr>
          <a:xfrm>
            <a:off x="1584960" y="3962400"/>
            <a:ext cx="213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13–15</a:t>
            </a:r>
            <a:endParaRPr lang="en-US" sz="12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EB869857-B2F9-AD2F-CE7A-E747E36DC7D7}"/>
              </a:ext>
            </a:extLst>
          </p:cNvPr>
          <p:cNvSpPr/>
          <p:nvPr/>
        </p:nvSpPr>
        <p:spPr>
          <a:xfrm>
            <a:off x="390144" y="437692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&amp; Uncertainty</a:t>
            </a:r>
            <a:endParaRPr lang="en-US" sz="16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A582AAD9-6642-9372-2250-E6A2DA4ABC5D}"/>
              </a:ext>
            </a:extLst>
          </p:cNvPr>
          <p:cNvSpPr/>
          <p:nvPr/>
        </p:nvSpPr>
        <p:spPr>
          <a:xfrm>
            <a:off x="390144" y="4913376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SHAP + Grad-CAM + DiCE counterfactuals, MC Dropout (10 passes), Clinical dashboard (Streamlit)</a:t>
            </a:r>
            <a:endParaRPr lang="en-US" sz="1133" b="1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9FA015B1-BFED-4F22-0CCB-2B96F86A96C7}"/>
              </a:ext>
            </a:extLst>
          </p:cNvPr>
          <p:cNvSpPr/>
          <p:nvPr/>
        </p:nvSpPr>
        <p:spPr>
          <a:xfrm>
            <a:off x="4291584" y="3938016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2991FDF-82F3-20F5-4751-3430659F1442}"/>
              </a:ext>
            </a:extLst>
          </p:cNvPr>
          <p:cNvSpPr/>
          <p:nvPr/>
        </p:nvSpPr>
        <p:spPr>
          <a:xfrm>
            <a:off x="4291584" y="3938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9A5E4E16-3410-CF07-172A-3A36AE7EA248}"/>
              </a:ext>
            </a:extLst>
          </p:cNvPr>
          <p:cNvSpPr/>
          <p:nvPr/>
        </p:nvSpPr>
        <p:spPr>
          <a:xfrm>
            <a:off x="5486400" y="3962400"/>
            <a:ext cx="213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16–18</a:t>
            </a:r>
            <a:endParaRPr lang="en-US" sz="12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AD867594-7B8D-BF4B-613A-AE48D1B03528}"/>
              </a:ext>
            </a:extLst>
          </p:cNvPr>
          <p:cNvSpPr/>
          <p:nvPr/>
        </p:nvSpPr>
        <p:spPr>
          <a:xfrm>
            <a:off x="4291584" y="437692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Ablation</a:t>
            </a:r>
            <a:endParaRPr lang="en-US" sz="16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78ECCBFA-BD23-F76C-F0E1-30457E8B0D3F}"/>
              </a:ext>
            </a:extLst>
          </p:cNvPr>
          <p:cNvSpPr/>
          <p:nvPr/>
        </p:nvSpPr>
        <p:spPr>
          <a:xfrm>
            <a:off x="4291584" y="4913376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30" b="1" dirty="0"/>
              <a:t>AUC-ROC, F1 (macro), Stage Accuracy, ECE metrics — ablation: remove pre-training / fusion / multi-task / uncertainty</a:t>
            </a:r>
            <a:endParaRPr lang="en-US" sz="1130" dirty="0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E8F29D6A-2D97-393E-6C8A-9DFD6E5940D3}"/>
              </a:ext>
            </a:extLst>
          </p:cNvPr>
          <p:cNvSpPr/>
          <p:nvPr/>
        </p:nvSpPr>
        <p:spPr>
          <a:xfrm>
            <a:off x="8193024" y="3938016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0B2D48"/>
          </a:solidFill>
          <a:ln w="12700">
            <a:solidFill>
              <a:srgbClr val="0B2D48"/>
            </a:solidFill>
            <a:prstDash val="solid"/>
          </a:ln>
        </p:spPr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1F83307A-B9A2-4770-37E0-7458189045D3}"/>
              </a:ext>
            </a:extLst>
          </p:cNvPr>
          <p:cNvSpPr/>
          <p:nvPr/>
        </p:nvSpPr>
        <p:spPr>
          <a:xfrm>
            <a:off x="8193024" y="3938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FE478ED9-E6B0-E821-9424-1AD917C8E067}"/>
              </a:ext>
            </a:extLst>
          </p:cNvPr>
          <p:cNvSpPr/>
          <p:nvPr/>
        </p:nvSpPr>
        <p:spPr>
          <a:xfrm>
            <a:off x="9387840" y="3962400"/>
            <a:ext cx="213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19–20</a:t>
            </a:r>
            <a:endParaRPr lang="en-US" sz="12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94384E7A-A0AD-BABA-FC12-B39FC6B42D32}"/>
              </a:ext>
            </a:extLst>
          </p:cNvPr>
          <p:cNvSpPr/>
          <p:nvPr/>
        </p:nvSpPr>
        <p:spPr>
          <a:xfrm>
            <a:off x="8193024" y="437692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Submission</a:t>
            </a:r>
            <a:endParaRPr lang="en-US" sz="16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7C05603C-52A7-30CF-36D3-C53CAF962D22}"/>
              </a:ext>
            </a:extLst>
          </p:cNvPr>
          <p:cNvSpPr/>
          <p:nvPr/>
        </p:nvSpPr>
        <p:spPr>
          <a:xfrm>
            <a:off x="8193024" y="4913376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notebooks, Model weights (.pth), IEEE paper draft, Project report</a:t>
            </a:r>
            <a:endParaRPr lang="en-US" sz="1133" b="1" dirty="0"/>
          </a:p>
        </p:txBody>
      </p:sp>
    </p:spTree>
    <p:extLst>
      <p:ext uri="{BB962C8B-B14F-4D97-AF65-F5344CB8AC3E}">
        <p14:creationId xmlns:p14="http://schemas.microsoft.com/office/powerpoint/2010/main" val="265882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457EE117-B09C-C481-11B7-32C640D22DA8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FFC30-9551-C9D5-19DF-61B9E402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19-06-2026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| Dept. of Artificial Intelligence and Data Science | PWP-I | Batch - 1 | Zeroth review | </a:t>
            </a:r>
            <a:endParaRPr lang="en-IN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26B1A-4F07-EABE-E5B5-E5753F5D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DB735-A2F8-07D3-7022-04C9CC06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EDFDE335-E880-3C1F-DCF4-20574F2766AE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Deliverables</a:t>
            </a:r>
            <a:endParaRPr lang="en-US" sz="3467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A5B1F86-F432-79EC-16E6-91C37E38814A}"/>
              </a:ext>
            </a:extLst>
          </p:cNvPr>
          <p:cNvSpPr/>
          <p:nvPr/>
        </p:nvSpPr>
        <p:spPr>
          <a:xfrm>
            <a:off x="365760" y="1292352"/>
            <a:ext cx="2560320" cy="1853184"/>
          </a:xfrm>
          <a:prstGeom prst="roundRect">
            <a:avLst>
              <a:gd name="adj" fmla="val 6579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3AA9F6B-8A0B-E441-1EE2-75769F0C131A}"/>
              </a:ext>
            </a:extLst>
          </p:cNvPr>
          <p:cNvSpPr/>
          <p:nvPr/>
        </p:nvSpPr>
        <p:spPr>
          <a:xfrm>
            <a:off x="426720" y="1341120"/>
            <a:ext cx="2438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4533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995EC62-93B8-8137-344E-7A394721A479}"/>
              </a:ext>
            </a:extLst>
          </p:cNvPr>
          <p:cNvSpPr/>
          <p:nvPr/>
        </p:nvSpPr>
        <p:spPr>
          <a:xfrm>
            <a:off x="426720" y="2194560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AUC-ROC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5BE642B-F3E7-2EEB-2D51-6E279307BE41}"/>
              </a:ext>
            </a:extLst>
          </p:cNvPr>
          <p:cNvSpPr/>
          <p:nvPr/>
        </p:nvSpPr>
        <p:spPr>
          <a:xfrm>
            <a:off x="426720" y="2609088"/>
            <a:ext cx="2438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(NAFLD Detection)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F4C4DBE7-53E9-0A31-716D-9691F38E2E97}"/>
              </a:ext>
            </a:extLst>
          </p:cNvPr>
          <p:cNvSpPr/>
          <p:nvPr/>
        </p:nvSpPr>
        <p:spPr>
          <a:xfrm>
            <a:off x="3230880" y="1292352"/>
            <a:ext cx="2560320" cy="1853184"/>
          </a:xfrm>
          <a:prstGeom prst="roundRect">
            <a:avLst>
              <a:gd name="adj" fmla="val 6579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25FE075-3A57-A662-BD8C-414A59602327}"/>
              </a:ext>
            </a:extLst>
          </p:cNvPr>
          <p:cNvSpPr/>
          <p:nvPr/>
        </p:nvSpPr>
        <p:spPr>
          <a:xfrm>
            <a:off x="3291840" y="1341120"/>
            <a:ext cx="2438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&gt;0.85</a:t>
            </a:r>
            <a:endParaRPr lang="en-US" sz="4533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AB22955-0AA0-8DD7-92F1-DCE097F635EA}"/>
              </a:ext>
            </a:extLst>
          </p:cNvPr>
          <p:cNvSpPr/>
          <p:nvPr/>
        </p:nvSpPr>
        <p:spPr>
          <a:xfrm>
            <a:off x="3291840" y="2194560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F1 (macro)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0C699BF-047C-24EE-AAD8-B50D75528613}"/>
              </a:ext>
            </a:extLst>
          </p:cNvPr>
          <p:cNvSpPr/>
          <p:nvPr/>
        </p:nvSpPr>
        <p:spPr>
          <a:xfrm>
            <a:off x="3291840" y="2609088"/>
            <a:ext cx="2438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fibrosis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A249DB1F-8A66-304E-A78E-E4C30D98C4D3}"/>
              </a:ext>
            </a:extLst>
          </p:cNvPr>
          <p:cNvSpPr/>
          <p:nvPr/>
        </p:nvSpPr>
        <p:spPr>
          <a:xfrm>
            <a:off x="6096000" y="1292352"/>
            <a:ext cx="2560320" cy="1853184"/>
          </a:xfrm>
          <a:prstGeom prst="roundRect">
            <a:avLst>
              <a:gd name="adj" fmla="val 6579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65611868-D676-BBF0-F127-3049A6CC0D86}"/>
              </a:ext>
            </a:extLst>
          </p:cNvPr>
          <p:cNvSpPr/>
          <p:nvPr/>
        </p:nvSpPr>
        <p:spPr>
          <a:xfrm>
            <a:off x="6156960" y="1341120"/>
            <a:ext cx="2438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&gt;80%</a:t>
            </a:r>
            <a:endParaRPr lang="en-US" sz="4533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24A98D5D-6034-FE4B-36BC-E9538D2DD61C}"/>
              </a:ext>
            </a:extLst>
          </p:cNvPr>
          <p:cNvSpPr/>
          <p:nvPr/>
        </p:nvSpPr>
        <p:spPr>
          <a:xfrm>
            <a:off x="6156960" y="2194560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330" b="1" dirty="0">
                <a:solidFill>
                  <a:schemeClr val="bg1"/>
                </a:solidFill>
              </a:rPr>
              <a:t>Fibrosis Stage Accuracy</a:t>
            </a:r>
            <a:endParaRPr lang="en-US" sz="1330" dirty="0">
              <a:solidFill>
                <a:schemeClr val="bg1"/>
              </a:solidFill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B9441AC-C579-3AE2-E9F2-21A037124310}"/>
              </a:ext>
            </a:extLst>
          </p:cNvPr>
          <p:cNvSpPr/>
          <p:nvPr/>
        </p:nvSpPr>
        <p:spPr>
          <a:xfrm>
            <a:off x="6156960" y="2609088"/>
            <a:ext cx="2438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Multi-class staging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D3A7C560-012E-CA50-3897-740BFD048EA5}"/>
              </a:ext>
            </a:extLst>
          </p:cNvPr>
          <p:cNvSpPr/>
          <p:nvPr/>
        </p:nvSpPr>
        <p:spPr>
          <a:xfrm>
            <a:off x="8961120" y="1292352"/>
            <a:ext cx="2560320" cy="1853184"/>
          </a:xfrm>
          <a:prstGeom prst="roundRect">
            <a:avLst>
              <a:gd name="adj" fmla="val 6579"/>
            </a:avLst>
          </a:prstGeom>
          <a:solidFill>
            <a:srgbClr val="0D7377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70420307-DDC6-20B1-367F-29BFE331A5EE}"/>
              </a:ext>
            </a:extLst>
          </p:cNvPr>
          <p:cNvSpPr/>
          <p:nvPr/>
        </p:nvSpPr>
        <p:spPr>
          <a:xfrm>
            <a:off x="9022080" y="1341120"/>
            <a:ext cx="2438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&lt;0.10</a:t>
            </a:r>
            <a:endParaRPr lang="en-US" sz="4533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DEEBE35-A4F2-EF10-4459-2A012D26F9F4}"/>
              </a:ext>
            </a:extLst>
          </p:cNvPr>
          <p:cNvSpPr/>
          <p:nvPr/>
        </p:nvSpPr>
        <p:spPr>
          <a:xfrm>
            <a:off x="9022080" y="2194560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90DB62AD-2278-633F-5169-E157AE6BF7A0}"/>
              </a:ext>
            </a:extLst>
          </p:cNvPr>
          <p:cNvSpPr/>
          <p:nvPr/>
        </p:nvSpPr>
        <p:spPr>
          <a:xfrm>
            <a:off x="9022080" y="2609088"/>
            <a:ext cx="2438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quality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EFFE0DB-550F-7BC3-B9E8-D80B1AFAD78A}"/>
              </a:ext>
            </a:extLst>
          </p:cNvPr>
          <p:cNvSpPr/>
          <p:nvPr/>
        </p:nvSpPr>
        <p:spPr>
          <a:xfrm>
            <a:off x="365760" y="3328416"/>
            <a:ext cx="11460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1733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70FCF668-F2C3-D493-C530-FC50347BE76B}"/>
              </a:ext>
            </a:extLst>
          </p:cNvPr>
          <p:cNvSpPr/>
          <p:nvPr/>
        </p:nvSpPr>
        <p:spPr>
          <a:xfrm>
            <a:off x="365760" y="3852672"/>
            <a:ext cx="560832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C0DC76D6-2C7E-0382-D20B-8CFDD8599467}"/>
              </a:ext>
            </a:extLst>
          </p:cNvPr>
          <p:cNvSpPr/>
          <p:nvPr/>
        </p:nvSpPr>
        <p:spPr>
          <a:xfrm>
            <a:off x="487680" y="3974592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974C0C28-8193-0654-53FB-8CED35C454EB}"/>
              </a:ext>
            </a:extLst>
          </p:cNvPr>
          <p:cNvSpPr/>
          <p:nvPr/>
        </p:nvSpPr>
        <p:spPr>
          <a:xfrm>
            <a:off x="487680" y="397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59B496B3-1B2A-99A3-F3E0-068C80B857E5}"/>
              </a:ext>
            </a:extLst>
          </p:cNvPr>
          <p:cNvSpPr/>
          <p:nvPr/>
        </p:nvSpPr>
        <p:spPr>
          <a:xfrm>
            <a:off x="975360" y="3925824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Jupyter notebooks and Python scripts for end-to-end pipeline</a:t>
            </a:r>
            <a:endParaRPr lang="en-US" sz="120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0970EF51-D5EB-80CC-AFAF-02213ADEB75B}"/>
              </a:ext>
            </a:extLst>
          </p:cNvPr>
          <p:cNvSpPr/>
          <p:nvPr/>
        </p:nvSpPr>
        <p:spPr>
          <a:xfrm>
            <a:off x="6278880" y="3852672"/>
            <a:ext cx="5608320" cy="609600"/>
          </a:xfrm>
          <a:prstGeom prst="roundRect">
            <a:avLst>
              <a:gd name="adj" fmla="val 12000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5B7448EE-1303-8B52-0FAB-5E4240AFB119}"/>
              </a:ext>
            </a:extLst>
          </p:cNvPr>
          <p:cNvSpPr/>
          <p:nvPr/>
        </p:nvSpPr>
        <p:spPr>
          <a:xfrm>
            <a:off x="6400800" y="3974592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D448A109-F67B-3E9B-2314-7E191826EBFA}"/>
              </a:ext>
            </a:extLst>
          </p:cNvPr>
          <p:cNvSpPr/>
          <p:nvPr/>
        </p:nvSpPr>
        <p:spPr>
          <a:xfrm>
            <a:off x="6400800" y="397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2C59573C-581C-2208-982E-32017BD52C99}"/>
              </a:ext>
            </a:extLst>
          </p:cNvPr>
          <p:cNvSpPr/>
          <p:nvPr/>
        </p:nvSpPr>
        <p:spPr>
          <a:xfrm>
            <a:off x="6888480" y="3925824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weights (.pth) for all components</a:t>
            </a:r>
            <a:endParaRPr lang="en-US" sz="12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F776F940-C9CD-ED72-5E9E-256968113F19}"/>
              </a:ext>
            </a:extLst>
          </p:cNvPr>
          <p:cNvSpPr/>
          <p:nvPr/>
        </p:nvSpPr>
        <p:spPr>
          <a:xfrm>
            <a:off x="365760" y="4584192"/>
            <a:ext cx="560832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438DA9A1-7733-A041-8041-55D6C33E4D88}"/>
              </a:ext>
            </a:extLst>
          </p:cNvPr>
          <p:cNvSpPr/>
          <p:nvPr/>
        </p:nvSpPr>
        <p:spPr>
          <a:xfrm>
            <a:off x="487680" y="4706112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9CDDBC30-6E93-5AFA-6DF0-ADF24A59461E}"/>
              </a:ext>
            </a:extLst>
          </p:cNvPr>
          <p:cNvSpPr/>
          <p:nvPr/>
        </p:nvSpPr>
        <p:spPr>
          <a:xfrm>
            <a:off x="487680" y="4706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D8942ED2-8F26-9951-8027-58174F1BDA40}"/>
              </a:ext>
            </a:extLst>
          </p:cNvPr>
          <p:cNvSpPr/>
          <p:nvPr/>
        </p:nvSpPr>
        <p:spPr>
          <a:xfrm>
            <a:off x="975360" y="4657344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Streamlit dashboard with Grad-CAM, SHAP charts, and counterfactual cards</a:t>
            </a:r>
            <a:endParaRPr lang="en-US" sz="120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76C4A61C-7BFD-7F9C-41EA-2BEE5B42D3A6}"/>
              </a:ext>
            </a:extLst>
          </p:cNvPr>
          <p:cNvSpPr/>
          <p:nvPr/>
        </p:nvSpPr>
        <p:spPr>
          <a:xfrm>
            <a:off x="6278880" y="4584192"/>
            <a:ext cx="5608320" cy="609600"/>
          </a:xfrm>
          <a:prstGeom prst="roundRect">
            <a:avLst>
              <a:gd name="adj" fmla="val 12000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D2CC1E8A-074D-4CC0-08FC-E3D84F95E05B}"/>
              </a:ext>
            </a:extLst>
          </p:cNvPr>
          <p:cNvSpPr/>
          <p:nvPr/>
        </p:nvSpPr>
        <p:spPr>
          <a:xfrm>
            <a:off x="6400800" y="4706112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6B0FAD0E-5B95-FD35-B92B-FD107C7EEEF3}"/>
              </a:ext>
            </a:extLst>
          </p:cNvPr>
          <p:cNvSpPr/>
          <p:nvPr/>
        </p:nvSpPr>
        <p:spPr>
          <a:xfrm>
            <a:off x="6400800" y="4706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1749DAD3-920A-F195-D02B-5470D67AD420}"/>
              </a:ext>
            </a:extLst>
          </p:cNvPr>
          <p:cNvSpPr/>
          <p:nvPr/>
        </p:nvSpPr>
        <p:spPr>
          <a:xfrm>
            <a:off x="6888480" y="4657344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paper draft with ablation study tables</a:t>
            </a:r>
            <a:endParaRPr lang="en-US" sz="12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EBA16527-E51F-A7F8-C94B-035A40976A01}"/>
              </a:ext>
            </a:extLst>
          </p:cNvPr>
          <p:cNvSpPr/>
          <p:nvPr/>
        </p:nvSpPr>
        <p:spPr>
          <a:xfrm>
            <a:off x="365760" y="5315712"/>
            <a:ext cx="560832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F4A4644A-8A78-8EEE-299D-DE6A95889010}"/>
              </a:ext>
            </a:extLst>
          </p:cNvPr>
          <p:cNvSpPr/>
          <p:nvPr/>
        </p:nvSpPr>
        <p:spPr>
          <a:xfrm>
            <a:off x="487680" y="5437632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67CB6F7C-E0C4-030F-9AA4-BB9A166527BD}"/>
              </a:ext>
            </a:extLst>
          </p:cNvPr>
          <p:cNvSpPr/>
          <p:nvPr/>
        </p:nvSpPr>
        <p:spPr>
          <a:xfrm>
            <a:off x="487680" y="543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9436030B-05CC-EAB1-A9E0-62C9C0EC3FA6}"/>
              </a:ext>
            </a:extLst>
          </p:cNvPr>
          <p:cNvSpPr/>
          <p:nvPr/>
        </p:nvSpPr>
        <p:spPr>
          <a:xfrm>
            <a:off x="975360" y="5388864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report with full methodology and results</a:t>
            </a:r>
            <a:endParaRPr lang="en-US" sz="1200" dirty="0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268BB4B6-38C8-EA6C-09F8-5AACDA4D083D}"/>
              </a:ext>
            </a:extLst>
          </p:cNvPr>
          <p:cNvSpPr/>
          <p:nvPr/>
        </p:nvSpPr>
        <p:spPr>
          <a:xfrm>
            <a:off x="6278880" y="5315712"/>
            <a:ext cx="5608320" cy="609600"/>
          </a:xfrm>
          <a:prstGeom prst="roundRect">
            <a:avLst>
              <a:gd name="adj" fmla="val 12000"/>
            </a:avLst>
          </a:prstGeom>
          <a:solidFill>
            <a:srgbClr val="F0F7F8"/>
          </a:solidFill>
          <a:ln w="12700">
            <a:solidFill>
              <a:srgbClr val="14A3A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2CEADC1E-3AD0-DD31-8752-AA8002586618}"/>
              </a:ext>
            </a:extLst>
          </p:cNvPr>
          <p:cNvSpPr/>
          <p:nvPr/>
        </p:nvSpPr>
        <p:spPr>
          <a:xfrm>
            <a:off x="6400800" y="5437632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7743A466-C825-31A8-C0F9-860D8BC3C836}"/>
              </a:ext>
            </a:extLst>
          </p:cNvPr>
          <p:cNvSpPr/>
          <p:nvPr/>
        </p:nvSpPr>
        <p:spPr>
          <a:xfrm>
            <a:off x="6400800" y="543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98DB512E-AD62-59FF-C13B-105B74AFE584}"/>
              </a:ext>
            </a:extLst>
          </p:cNvPr>
          <p:cNvSpPr/>
          <p:nvPr/>
        </p:nvSpPr>
        <p:spPr>
          <a:xfrm>
            <a:off x="6888480" y="5388864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contrastive pre-training vs random init, cross-modal vs concatenation, multi-task vs single-task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38508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F9EE081-315A-C711-52F2-2CE73E0C1AD3}"/>
              </a:ext>
            </a:extLst>
          </p:cNvPr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82FA3-03DD-DCC6-E7BB-FF49B09E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19-06-2026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| Dept. of Artificial Intelligence and Data Science | PWP-I | Batch - 1 | Zeroth review | </a:t>
            </a:r>
            <a:endParaRPr lang="en-IN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48DA2-9860-01CB-B161-75BE06CC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6596B-81AA-3CA5-1B5A-12E78BC3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1FA9F05-6FBD-6F5D-8A6F-E260DB8883B3}"/>
              </a:ext>
            </a:extLst>
          </p:cNvPr>
          <p:cNvSpPr/>
          <p:nvPr/>
        </p:nvSpPr>
        <p:spPr>
          <a:xfrm>
            <a:off x="609600" y="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67" dirty="0"/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8255AB8-9A15-02AF-6C1F-A3519B0F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80943"/>
              </p:ext>
            </p:extLst>
          </p:nvPr>
        </p:nvGraphicFramePr>
        <p:xfrm>
          <a:off x="764874" y="1338799"/>
          <a:ext cx="10972801" cy="505277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50607">
                  <a:extLst>
                    <a:ext uri="{9D8B030D-6E8A-4147-A177-3AD203B41FA5}">
                      <a16:colId xmlns:a16="http://schemas.microsoft.com/office/drawing/2014/main" val="3480272280"/>
                    </a:ext>
                  </a:extLst>
                </a:gridCol>
                <a:gridCol w="1071717">
                  <a:extLst>
                    <a:ext uri="{9D8B030D-6E8A-4147-A177-3AD203B41FA5}">
                      <a16:colId xmlns:a16="http://schemas.microsoft.com/office/drawing/2014/main" val="675016559"/>
                    </a:ext>
                  </a:extLst>
                </a:gridCol>
                <a:gridCol w="2595716">
                  <a:extLst>
                    <a:ext uri="{9D8B030D-6E8A-4147-A177-3AD203B41FA5}">
                      <a16:colId xmlns:a16="http://schemas.microsoft.com/office/drawing/2014/main" val="1485571338"/>
                    </a:ext>
                  </a:extLst>
                </a:gridCol>
                <a:gridCol w="1347020">
                  <a:extLst>
                    <a:ext uri="{9D8B030D-6E8A-4147-A177-3AD203B41FA5}">
                      <a16:colId xmlns:a16="http://schemas.microsoft.com/office/drawing/2014/main" val="2531101869"/>
                    </a:ext>
                  </a:extLst>
                </a:gridCol>
                <a:gridCol w="619433">
                  <a:extLst>
                    <a:ext uri="{9D8B030D-6E8A-4147-A177-3AD203B41FA5}">
                      <a16:colId xmlns:a16="http://schemas.microsoft.com/office/drawing/2014/main" val="3226968519"/>
                    </a:ext>
                  </a:extLst>
                </a:gridCol>
                <a:gridCol w="1189702">
                  <a:extLst>
                    <a:ext uri="{9D8B030D-6E8A-4147-A177-3AD203B41FA5}">
                      <a16:colId xmlns:a16="http://schemas.microsoft.com/office/drawing/2014/main" val="1851228773"/>
                    </a:ext>
                  </a:extLst>
                </a:gridCol>
                <a:gridCol w="619433">
                  <a:extLst>
                    <a:ext uri="{9D8B030D-6E8A-4147-A177-3AD203B41FA5}">
                      <a16:colId xmlns:a16="http://schemas.microsoft.com/office/drawing/2014/main" val="3357695500"/>
                    </a:ext>
                  </a:extLst>
                </a:gridCol>
                <a:gridCol w="2979173">
                  <a:extLst>
                    <a:ext uri="{9D8B030D-6E8A-4147-A177-3AD203B41FA5}">
                      <a16:colId xmlns:a16="http://schemas.microsoft.com/office/drawing/2014/main" val="3577003542"/>
                    </a:ext>
                  </a:extLst>
                </a:gridCol>
              </a:tblGrid>
              <a:tr h="57874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No.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Authors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Title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Venue / Source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Type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Key Contribution / Relevance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3728963079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Bhardwaj, S., et al.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Transformer-enhanced deep ensemble for multi-class liver disease classification using computed tomography images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Scientific Reports (Springer)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Imaging Classification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Hybrid CNN-Transformer ensemble (ResNet50V2, DenseNet121, MobileNetV2 + Transformer) achieving 97% accuracy on CT liver classification (fatty liver, cirrhosis, HCC).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1048531600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Wei, et al.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Liver Lesion Network (</a:t>
                      </a:r>
                      <a:r>
                        <a:rPr lang="en-IN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LiLNet</a:t>
                      </a: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deep CNN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Radiology/AI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Imaging Classification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6-class liver lesion classification (HCC, ICC, MET, FNH, HEM, CYST) with ACC = 94.7%, AUC = 97.2%.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2509174789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Midya, et al.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Modified Inception-v3 for liver </a:t>
                      </a:r>
                      <a:r>
                        <a:rPr lang="en-IN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tumor</a:t>
                      </a: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classification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Biomedical Signal Processing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Imaging Classification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4-class classification (HCC, ICC, CRLM, Benign) with 96% accuracy.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3184298457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Various (XAIHO Framework)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Explainable AI Leveraging Hybrid Optimized Framework for Liver Cirrhosis Detection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Springer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ResNet-50/VGG16 + SHAP + Adam optimizer, 92.35% accuracy for cirrhosis staging.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4264835150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Various (NMD-FusionNet)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Multimodal Fusion-Based Diagnostic Model for Liver Cancer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Springer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Multimodal Fusion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Multi-window CT fusion for liver cancer segmentation.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2095928049"/>
                  </a:ext>
                </a:extLst>
              </a:tr>
              <a:tr h="4829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N/A (Survey)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Explainable artificial intelligence and ensemble learning for hepatocellular carcinoma classification: State of the art, performance, and clinical implications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World Journal of Gastroenterology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Survey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Comprehensive survey of SHAP, LIME, Grad-CAM, and attention mechanisms for HCC. Shows how Grad-CAM highlights arterial hyperenhancement and venous washout patterns.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2882268254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Leveraging deep learning and explainable AI for effective liver tumor classification from CT scan images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Frontiers in Oncology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EfficientNetV2-S + SHAP + Grad-CAM for benign/malignant liver </a:t>
                      </a:r>
                      <a:r>
                        <a:rPr lang="en-IN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tumor</a:t>
                      </a: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classification. Demonstrates SHAP </a:t>
                      </a:r>
                      <a:r>
                        <a:rPr lang="en-IN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color</a:t>
                      </a: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masks and Grad-CAM heatmaps on CT.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2907371810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Explainable AI for Diagnosis and Staging of Liver Cirrhosis Using Stacked Ensemble and Multi-Task Learning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MDPI Diagnostics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Applied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Multi-task learning + explainability for cirrhosis staging.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1717743809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Mothilal, R. K., et al.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Explaining Machine Learning Classifiers through Diverse Counterfactual Explanations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ACM FAccT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Foundational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Foundational </a:t>
                      </a:r>
                      <a:r>
                        <a:rPr lang="en-IN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DiCE</a:t>
                      </a: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paper. The algorithm to use for counterfactual generation in the tabular pathway.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1553875326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Lundberg, S. M., &amp; Lee, S. I.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A unified approach to interpreting model predictions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NeurIPS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Foundational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Foundational SHAP paper. Required citation for any SHAP-based explainability.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370765499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Selvaraju, R. R., et al.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Grad-CAM: Visual explanations from deep networks via gradient-based localization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IEEE ICCV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Explainability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Foundational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Foundational Grad-CAM paper. The standard for CNN visualization in medical imaging.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3540228474"/>
                  </a:ext>
                </a:extLst>
              </a:tr>
              <a:tr h="3758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N/A (Survey)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Deep learning-based uncertainty quantification for quality assurance in hepatobiliary imaging-based techniques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PMC/NIH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Uncertainty Quantification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Survey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Surveys UQ methods in liver imaging. Discusses </a:t>
                      </a:r>
                      <a:r>
                        <a:rPr lang="en-IN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AHUNet</a:t>
                      </a:r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framework, 2D vs 3D uncertainty overlays, and how high-uncertainty regions (red) trigger additional radiologist review.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4" marR="3684" marT="3684" marB="0"/>
                </a:tc>
                <a:extLst>
                  <a:ext uri="{0D108BD9-81ED-4DB2-BD59-A6C34878D82A}">
                    <a16:rowId xmlns:a16="http://schemas.microsoft.com/office/drawing/2014/main" val="373485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1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674" y="646611"/>
            <a:ext cx="10872651" cy="556477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ED113-01F9-2D5E-A2F8-34F4B0C448AF}"/>
              </a:ext>
            </a:extLst>
          </p:cNvPr>
          <p:cNvSpPr/>
          <p:nvPr/>
        </p:nvSpPr>
        <p:spPr>
          <a:xfrm>
            <a:off x="1201783" y="1058091"/>
            <a:ext cx="9705704" cy="4702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600" y="2159726"/>
            <a:ext cx="109728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0C3D8B7D-1E04-9820-DD0F-1B241E570B2D}"/>
              </a:ext>
            </a:extLst>
          </p:cNvPr>
          <p:cNvSpPr/>
          <p:nvPr/>
        </p:nvSpPr>
        <p:spPr>
          <a:xfrm>
            <a:off x="1619793" y="1382486"/>
            <a:ext cx="8791303" cy="3960223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FAAAA-A970-7D53-3A61-380C043577DC}"/>
              </a:ext>
            </a:extLst>
          </p:cNvPr>
          <p:cNvSpPr txBox="1"/>
          <p:nvPr/>
        </p:nvSpPr>
        <p:spPr>
          <a:xfrm>
            <a:off x="1077685" y="2858282"/>
            <a:ext cx="99125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554</TotalTime>
  <Words>1713</Words>
  <Application>Microsoft Office PowerPoint</Application>
  <PresentationFormat>Widescreen</PresentationFormat>
  <Paragraphs>303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Kaalei Muthoo</dc:creator>
  <cp:lastModifiedBy>Rohit T J</cp:lastModifiedBy>
  <cp:revision>33</cp:revision>
  <dcterms:created xsi:type="dcterms:W3CDTF">2024-07-29T08:43:14Z</dcterms:created>
  <dcterms:modified xsi:type="dcterms:W3CDTF">2026-06-19T02:37:20Z</dcterms:modified>
</cp:coreProperties>
</file>